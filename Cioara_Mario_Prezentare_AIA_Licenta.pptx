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EB2717-8C09-4C26-95C6-4F241FCD9561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6E160C-68EC-40FF-BB6E-AB0749D34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25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6E160C-68EC-40FF-BB6E-AB0749D34F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761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62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6B6D4"/>
                </a:solidFill>
                <a:latin typeface="Segoe UI"/>
              </a:defRPr>
            </a:pPr>
            <a:r>
              <a:t>RIFT 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0A0B0"/>
                </a:solidFill>
                <a:latin typeface="Segoe UI"/>
              </a:defRPr>
            </a:pPr>
            <a:r>
              <a:rPr lang="ro-RO" dirty="0"/>
              <a:t>Aplicație web pentru pasionații de League of Legends esports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4572000" y="3383280"/>
            <a:ext cx="3047695" cy="508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Segoe UI"/>
              </a:defRPr>
            </a:pPr>
            <a:r>
              <a:rPr dirty="0" err="1"/>
              <a:t>Lucrare</a:t>
            </a:r>
            <a:r>
              <a:rPr dirty="0"/>
              <a:t> de Lice</a:t>
            </a:r>
            <a:r>
              <a:rPr lang="ro-RO" dirty="0"/>
              <a:t>nță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71600" y="4434840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08099"/>
                </a:solidFill>
                <a:latin typeface="Segoe UI"/>
              </a:defRPr>
            </a:pPr>
            <a:r>
              <a:rPr dirty="0" err="1"/>
              <a:t>Universitatea</a:t>
            </a:r>
            <a:r>
              <a:rPr dirty="0"/>
              <a:t> </a:t>
            </a:r>
            <a:r>
              <a:rPr dirty="0" err="1"/>
              <a:t>Politehnica</a:t>
            </a:r>
            <a:r>
              <a:rPr dirty="0"/>
              <a:t> </a:t>
            </a:r>
            <a:r>
              <a:rPr dirty="0" err="1"/>
              <a:t>Timi</a:t>
            </a:r>
            <a:r>
              <a:rPr lang="ro-RO" dirty="0"/>
              <a:t>ș</a:t>
            </a:r>
            <a:r>
              <a:rPr dirty="0" err="1"/>
              <a:t>oara</a:t>
            </a:r>
            <a:r>
              <a:rPr dirty="0"/>
              <a:t>  |  </a:t>
            </a:r>
            <a:r>
              <a:rPr dirty="0" err="1"/>
              <a:t>Facultatea</a:t>
            </a:r>
            <a:r>
              <a:rPr dirty="0"/>
              <a:t> de Automatic</a:t>
            </a:r>
            <a:r>
              <a:rPr lang="ro-RO" dirty="0"/>
              <a:t>ă</a:t>
            </a:r>
            <a:r>
              <a:rPr dirty="0"/>
              <a:t> </a:t>
            </a:r>
            <a:r>
              <a:rPr lang="ro-RO" dirty="0"/>
              <a:t>ș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Calculatoare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371600" y="5074920"/>
            <a:ext cx="9144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0A0B0"/>
                </a:solidFill>
                <a:latin typeface="Segoe UI"/>
              </a:defRPr>
            </a:pPr>
            <a:r>
              <a:rPr lang="ro-RO" dirty="0"/>
              <a:t>Candidat</a:t>
            </a:r>
            <a:r>
              <a:rPr dirty="0"/>
              <a:t>: Cioara Mario R</a:t>
            </a:r>
            <a:r>
              <a:rPr lang="ro-RO" dirty="0"/>
              <a:t>ă</a:t>
            </a:r>
            <a:r>
              <a:rPr dirty="0" err="1"/>
              <a:t>zvan</a:t>
            </a:r>
            <a:r>
              <a:rPr dirty="0"/>
              <a:t>          </a:t>
            </a:r>
            <a:r>
              <a:rPr dirty="0" err="1"/>
              <a:t>Coordonator</a:t>
            </a:r>
            <a:r>
              <a:rPr lang="ro-RO" dirty="0"/>
              <a:t> științific</a:t>
            </a:r>
            <a:r>
              <a:rPr dirty="0"/>
              <a:t>: Adriana </a:t>
            </a:r>
            <a:r>
              <a:rPr dirty="0" err="1"/>
              <a:t>Albu</a:t>
            </a:r>
            <a:r>
              <a:rPr dirty="0"/>
              <a:t>-H</a:t>
            </a:r>
            <a:r>
              <a:rPr lang="ro-RO" dirty="0"/>
              <a:t>ă</a:t>
            </a:r>
            <a:r>
              <a:rPr dirty="0"/>
              <a:t>r</a:t>
            </a:r>
            <a:r>
              <a:rPr lang="ro-RO" dirty="0"/>
              <a:t>ș</a:t>
            </a:r>
            <a:r>
              <a:rPr dirty="0" err="1"/>
              <a:t>ian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1371600" y="5669280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08099"/>
                </a:solidFill>
                <a:latin typeface="Segoe UI"/>
              </a:defRPr>
            </a:pPr>
            <a:r>
              <a:rPr lang="ro-RO" dirty="0"/>
              <a:t>Sesiunea: Februarie</a:t>
            </a:r>
            <a:r>
              <a:rPr dirty="0"/>
              <a:t>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62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rPr dirty="0" err="1"/>
              <a:t>Contextul</a:t>
            </a:r>
            <a:r>
              <a:rPr dirty="0"/>
              <a:t> </a:t>
            </a:r>
            <a:r>
              <a:rPr lang="ro-RO" dirty="0"/>
              <a:t>ș</a:t>
            </a:r>
            <a:r>
              <a:rPr dirty="0" err="1"/>
              <a:t>i</a:t>
            </a:r>
            <a:r>
              <a:rPr dirty="0"/>
              <a:t> </a:t>
            </a:r>
            <a:r>
              <a:rPr lang="ro-RO" dirty="0"/>
              <a:t>p</a:t>
            </a:r>
            <a:r>
              <a:rPr dirty="0" err="1"/>
              <a:t>roblema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Segoe UI"/>
              </a:defRPr>
            </a:pPr>
            <a:r>
              <a:rPr lang="ro-RO" dirty="0"/>
              <a:t>	</a:t>
            </a:r>
            <a:r>
              <a:rPr dirty="0" err="1"/>
              <a:t>Esportul</a:t>
            </a:r>
            <a:r>
              <a:rPr dirty="0"/>
              <a:t> League of Legends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572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Segoe UI"/>
              </a:defRPr>
            </a:pPr>
            <a:r>
              <a:rPr lang="ro-RO" dirty="0"/>
              <a:t>5</a:t>
            </a:r>
            <a:r>
              <a:rPr dirty="0"/>
              <a:t> </a:t>
            </a:r>
            <a:r>
              <a:rPr dirty="0" err="1"/>
              <a:t>regiuni</a:t>
            </a:r>
            <a:r>
              <a:rPr dirty="0"/>
              <a:t> </a:t>
            </a:r>
            <a:r>
              <a:rPr dirty="0" err="1"/>
              <a:t>majore</a:t>
            </a:r>
            <a:r>
              <a:rPr dirty="0"/>
              <a:t>: </a:t>
            </a:r>
            <a:r>
              <a:rPr dirty="0" err="1"/>
              <a:t>LCK</a:t>
            </a:r>
            <a:r>
              <a:rPr dirty="0"/>
              <a:t>, </a:t>
            </a:r>
            <a:r>
              <a:rPr dirty="0" err="1"/>
              <a:t>LEC</a:t>
            </a:r>
            <a:r>
              <a:rPr dirty="0"/>
              <a:t>, LPL, LCS </a:t>
            </a:r>
            <a:r>
              <a:rPr lang="ro-RO" dirty="0"/>
              <a:t>și</a:t>
            </a:r>
            <a:r>
              <a:rPr dirty="0"/>
              <a:t> APAC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Segoe UI"/>
              </a:defRPr>
            </a:pPr>
            <a:r>
              <a:rPr dirty="0" err="1"/>
              <a:t>Milioane</a:t>
            </a:r>
            <a:r>
              <a:rPr dirty="0"/>
              <a:t> de </a:t>
            </a:r>
            <a:r>
              <a:rPr dirty="0" err="1"/>
              <a:t>spectatori</a:t>
            </a:r>
            <a:r>
              <a:rPr dirty="0"/>
              <a:t> la </a:t>
            </a:r>
            <a:r>
              <a:rPr dirty="0" err="1"/>
              <a:t>nivel</a:t>
            </a:r>
            <a:r>
              <a:rPr dirty="0"/>
              <a:t> global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Segoe UI"/>
              </a:defRPr>
            </a:pPr>
            <a:r>
              <a:rPr lang="ro-RO" dirty="0"/>
              <a:t>3</a:t>
            </a:r>
            <a:r>
              <a:rPr dirty="0"/>
              <a:t> split-</a:t>
            </a:r>
            <a:r>
              <a:rPr dirty="0" err="1"/>
              <a:t>uri</a:t>
            </a:r>
            <a:r>
              <a:rPr lang="ro-RO" dirty="0"/>
              <a:t>(tururi)</a:t>
            </a:r>
            <a:r>
              <a:rPr dirty="0"/>
              <a:t>/an + </a:t>
            </a:r>
            <a:r>
              <a:rPr lang="ro-RO" dirty="0"/>
              <a:t>3 </a:t>
            </a:r>
            <a:r>
              <a:rPr dirty="0" err="1"/>
              <a:t>turnee</a:t>
            </a:r>
            <a:r>
              <a:rPr dirty="0"/>
              <a:t> </a:t>
            </a:r>
            <a:r>
              <a:rPr lang="ro-RO" dirty="0"/>
              <a:t>internaționale</a:t>
            </a: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Segoe UI"/>
              </a:defRPr>
            </a:pPr>
            <a:r>
              <a:rPr dirty="0" err="1"/>
              <a:t>Zeci</a:t>
            </a:r>
            <a:r>
              <a:rPr dirty="0"/>
              <a:t> de </a:t>
            </a:r>
            <a:r>
              <a:rPr dirty="0" err="1"/>
              <a:t>echipe</a:t>
            </a:r>
            <a:r>
              <a:rPr dirty="0"/>
              <a:t>, </a:t>
            </a:r>
            <a:r>
              <a:rPr dirty="0" err="1"/>
              <a:t>sute</a:t>
            </a:r>
            <a:r>
              <a:rPr dirty="0"/>
              <a:t> de </a:t>
            </a:r>
            <a:r>
              <a:rPr dirty="0" err="1"/>
              <a:t>jucatori</a:t>
            </a:r>
            <a:r>
              <a:rPr dirty="0"/>
              <a:t>, mii de </a:t>
            </a:r>
            <a:r>
              <a:rPr dirty="0" err="1"/>
              <a:t>meciuri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508760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C4899"/>
                </a:solidFill>
                <a:latin typeface="Segoe UI"/>
              </a:defRPr>
            </a:pPr>
            <a:r>
              <a:rPr lang="ro-RO" dirty="0"/>
              <a:t>		</a:t>
            </a:r>
            <a:r>
              <a:rPr dirty="0" err="1"/>
              <a:t>Problema</a:t>
            </a:r>
            <a:r>
              <a:rPr dirty="0"/>
              <a:t> </a:t>
            </a:r>
            <a:r>
              <a:rPr dirty="0" err="1"/>
              <a:t>identificata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57200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Segoe UI"/>
              </a:defRPr>
            </a:pPr>
            <a:r>
              <a:rPr dirty="0"/>
              <a:t>Date fragmentate pe multiple </a:t>
            </a:r>
            <a:r>
              <a:rPr dirty="0" err="1"/>
              <a:t>platforme</a:t>
            </a: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Segoe UI"/>
              </a:defRPr>
            </a:pPr>
            <a:r>
              <a:rPr dirty="0" err="1"/>
              <a:t>lolesports.com</a:t>
            </a:r>
            <a:r>
              <a:rPr dirty="0"/>
              <a:t>, </a:t>
            </a:r>
            <a:r>
              <a:rPr dirty="0" err="1"/>
              <a:t>Liquipedia</a:t>
            </a:r>
            <a:r>
              <a:rPr dirty="0"/>
              <a:t>, YouTube, site-</a:t>
            </a:r>
            <a:r>
              <a:rPr dirty="0" err="1"/>
              <a:t>uri</a:t>
            </a:r>
            <a:r>
              <a:rPr lang="ro-RO" dirty="0"/>
              <a:t> de</a:t>
            </a:r>
            <a:r>
              <a:rPr dirty="0"/>
              <a:t> </a:t>
            </a:r>
            <a:r>
              <a:rPr dirty="0" err="1"/>
              <a:t>statistici</a:t>
            </a:r>
            <a:r>
              <a:rPr lang="ro-RO" dirty="0"/>
              <a:t>(gol.gg)</a:t>
            </a: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Segoe UI"/>
              </a:defRPr>
            </a:pPr>
            <a:r>
              <a:rPr dirty="0" err="1"/>
              <a:t>Nicio</a:t>
            </a:r>
            <a:r>
              <a:rPr dirty="0"/>
              <a:t> platform</a:t>
            </a:r>
            <a:r>
              <a:rPr lang="ro-RO" dirty="0"/>
              <a:t>ă</a:t>
            </a:r>
            <a:r>
              <a:rPr dirty="0"/>
              <a:t> </a:t>
            </a:r>
            <a:r>
              <a:rPr dirty="0" err="1"/>
              <a:t>centralizat</a:t>
            </a:r>
            <a:r>
              <a:rPr lang="ro-RO" dirty="0"/>
              <a:t>ă</a:t>
            </a:r>
            <a:r>
              <a:rPr dirty="0"/>
              <a:t> cu date </a:t>
            </a:r>
            <a:r>
              <a:rPr dirty="0" err="1"/>
              <a:t>actualizate</a:t>
            </a: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Segoe UI"/>
              </a:defRPr>
            </a:pPr>
            <a:r>
              <a:rPr dirty="0" err="1"/>
              <a:t>Lipsesc</a:t>
            </a:r>
            <a:r>
              <a:rPr dirty="0"/>
              <a:t> </a:t>
            </a:r>
            <a:r>
              <a:rPr dirty="0" err="1"/>
              <a:t>func</a:t>
            </a:r>
            <a:r>
              <a:rPr lang="ro-RO" dirty="0"/>
              <a:t>ț</a:t>
            </a:r>
            <a:r>
              <a:rPr dirty="0" err="1"/>
              <a:t>ionalit</a:t>
            </a:r>
            <a:r>
              <a:rPr lang="ro-RO" dirty="0"/>
              <a:t>ăț</a:t>
            </a:r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personalizate</a:t>
            </a:r>
            <a:r>
              <a:rPr dirty="0"/>
              <a:t> (favorite, </a:t>
            </a:r>
            <a:r>
              <a:rPr dirty="0" err="1"/>
              <a:t>notific</a:t>
            </a:r>
            <a:r>
              <a:rPr lang="ro-RO" dirty="0"/>
              <a:t>ă</a:t>
            </a:r>
            <a:r>
              <a:rPr dirty="0" err="1"/>
              <a:t>ri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62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rPr dirty="0" err="1"/>
              <a:t>Obiectivele</a:t>
            </a:r>
            <a:r>
              <a:rPr dirty="0"/>
              <a:t> </a:t>
            </a:r>
            <a:r>
              <a:rPr lang="ro-RO" dirty="0"/>
              <a:t>p</a:t>
            </a:r>
            <a:r>
              <a:rPr dirty="0" err="1"/>
              <a:t>roiectului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447" y="1463040"/>
            <a:ext cx="2011680" cy="45720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386687" y="1828800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86687" y="18470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607" y="2560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Agregarea datelor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607" y="3291840"/>
            <a:ext cx="173736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Segoe UI"/>
              </a:defRPr>
            </a:pPr>
            <a:r>
              <a:rPr dirty="0" err="1"/>
              <a:t>Echipe</a:t>
            </a:r>
            <a:r>
              <a:rPr dirty="0"/>
              <a:t>, </a:t>
            </a:r>
            <a:r>
              <a:rPr dirty="0" err="1"/>
              <a:t>juc</a:t>
            </a:r>
            <a:r>
              <a:rPr lang="ro-RO" dirty="0"/>
              <a:t>ă</a:t>
            </a:r>
            <a:r>
              <a:rPr dirty="0"/>
              <a:t>tori, </a:t>
            </a:r>
            <a:r>
              <a:rPr dirty="0" err="1"/>
              <a:t>turnee</a:t>
            </a:r>
            <a:r>
              <a:rPr dirty="0"/>
              <a:t>, </a:t>
            </a:r>
            <a:r>
              <a:rPr dirty="0" err="1"/>
              <a:t>meciuri</a:t>
            </a:r>
            <a:br>
              <a:rPr dirty="0"/>
            </a:br>
            <a:r>
              <a:rPr dirty="0"/>
              <a:t>cu </a:t>
            </a:r>
            <a:r>
              <a:rPr dirty="0" err="1"/>
              <a:t>statistici</a:t>
            </a:r>
            <a:r>
              <a:rPr dirty="0"/>
              <a:t> </a:t>
            </a:r>
            <a:r>
              <a:rPr lang="ro-RO" dirty="0"/>
              <a:t>ș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clasamente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2849727" y="1463040"/>
            <a:ext cx="2011680" cy="45720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26967" y="182880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26967" y="18470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6887" y="2560320"/>
            <a:ext cx="173736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rPr dirty="0" err="1"/>
              <a:t>Actualizare</a:t>
            </a:r>
            <a:r>
              <a:rPr dirty="0"/>
              <a:t> automat</a:t>
            </a:r>
            <a:r>
              <a:rPr lang="ro-RO" dirty="0"/>
              <a:t>ă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2986887" y="3291840"/>
            <a:ext cx="173736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Segoe UI"/>
              </a:defRPr>
            </a:pPr>
            <a:r>
              <a:rPr dirty="0"/>
              <a:t>Pipeline care </a:t>
            </a:r>
            <a:r>
              <a:rPr dirty="0" err="1"/>
              <a:t>interogheaz</a:t>
            </a:r>
            <a:r>
              <a:rPr lang="ro-RO" dirty="0"/>
              <a:t>ă</a:t>
            </a:r>
            <a:r>
              <a:rPr dirty="0"/>
              <a:t> API-ul</a:t>
            </a:r>
            <a:br>
              <a:rPr dirty="0"/>
            </a:br>
            <a:r>
              <a:rPr dirty="0" err="1"/>
              <a:t>LoL</a:t>
            </a:r>
            <a:r>
              <a:rPr dirty="0"/>
              <a:t> Esports la </a:t>
            </a:r>
            <a:r>
              <a:rPr dirty="0" err="1"/>
              <a:t>intervale</a:t>
            </a:r>
            <a:r>
              <a:rPr dirty="0"/>
              <a:t> regulate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90007" y="1463040"/>
            <a:ext cx="2011680" cy="45720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867247" y="182880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67247" y="18470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7167" y="2560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Personalizare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7167" y="3291840"/>
            <a:ext cx="173736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Segoe UI"/>
              </a:defRPr>
            </a:pPr>
            <a:r>
              <a:rPr dirty="0" err="1"/>
              <a:t>Conturi</a:t>
            </a:r>
            <a:r>
              <a:rPr dirty="0"/>
              <a:t> </a:t>
            </a:r>
            <a:r>
              <a:rPr dirty="0" err="1"/>
              <a:t>utilizator</a:t>
            </a:r>
            <a:r>
              <a:rPr dirty="0"/>
              <a:t>, favorite,</a:t>
            </a:r>
            <a:br>
              <a:rPr dirty="0"/>
            </a:br>
            <a:r>
              <a:rPr dirty="0" err="1"/>
              <a:t>notific</a:t>
            </a:r>
            <a:r>
              <a:rPr lang="ro-RO" dirty="0"/>
              <a:t>ă</a:t>
            </a:r>
            <a:r>
              <a:rPr dirty="0" err="1"/>
              <a:t>ri</a:t>
            </a:r>
            <a:r>
              <a:rPr dirty="0"/>
              <a:t> </a:t>
            </a:r>
            <a:r>
              <a:rPr lang="ro-RO" dirty="0"/>
              <a:t>prin </a:t>
            </a:r>
            <a:r>
              <a:rPr dirty="0"/>
              <a:t>email pre-</a:t>
            </a:r>
            <a:r>
              <a:rPr dirty="0" err="1"/>
              <a:t>meci</a:t>
            </a:r>
            <a:endParaRPr dirty="0"/>
          </a:p>
        </p:txBody>
      </p:sp>
      <p:sp>
        <p:nvSpPr>
          <p:cNvPr id="20" name="Rounded Rectangle 19"/>
          <p:cNvSpPr/>
          <p:nvPr/>
        </p:nvSpPr>
        <p:spPr>
          <a:xfrm>
            <a:off x="7330287" y="1463040"/>
            <a:ext cx="2011680" cy="45720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107527" y="1828800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07527" y="18470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67447" y="2560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Timp real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7447" y="3291840"/>
            <a:ext cx="173736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Segoe UI"/>
              </a:defRPr>
            </a:pPr>
            <a:r>
              <a:rPr dirty="0"/>
              <a:t>Broadcast WebSocket al</a:t>
            </a:r>
            <a:br>
              <a:rPr dirty="0"/>
            </a:br>
            <a:r>
              <a:rPr dirty="0" err="1"/>
              <a:t>modific</a:t>
            </a:r>
            <a:r>
              <a:rPr lang="ro-RO" dirty="0"/>
              <a:t>ă</a:t>
            </a:r>
            <a:r>
              <a:rPr dirty="0" err="1"/>
              <a:t>rilor</a:t>
            </a:r>
            <a:r>
              <a:rPr dirty="0"/>
              <a:t> de </a:t>
            </a:r>
            <a:r>
              <a:rPr dirty="0" err="1"/>
              <a:t>scor</a:t>
            </a:r>
            <a:r>
              <a:rPr lang="ro-RO" dirty="0"/>
              <a:t> și program</a:t>
            </a:r>
            <a:endParaRPr dirty="0"/>
          </a:p>
        </p:txBody>
      </p:sp>
      <p:sp>
        <p:nvSpPr>
          <p:cNvPr id="25" name="Rounded Rectangle 24"/>
          <p:cNvSpPr/>
          <p:nvPr/>
        </p:nvSpPr>
        <p:spPr>
          <a:xfrm>
            <a:off x="9570567" y="1463040"/>
            <a:ext cx="2011680" cy="45720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347807" y="1828800"/>
            <a:ext cx="457200" cy="45720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347807" y="18470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07727" y="2560320"/>
            <a:ext cx="173736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rPr dirty="0" err="1"/>
              <a:t>Interfa</a:t>
            </a:r>
            <a:r>
              <a:rPr lang="ro-RO" dirty="0"/>
              <a:t>ț</a:t>
            </a:r>
            <a:r>
              <a:rPr dirty="0"/>
              <a:t>a modern</a:t>
            </a:r>
            <a:r>
              <a:rPr lang="ro-RO" dirty="0"/>
              <a:t>ă</a:t>
            </a:r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9707727" y="3291840"/>
            <a:ext cx="173736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Segoe UI"/>
              </a:defRPr>
            </a:pPr>
            <a:r>
              <a:rPr dirty="0"/>
              <a:t>Design responsive, </a:t>
            </a:r>
            <a:r>
              <a:rPr dirty="0" err="1"/>
              <a:t>tema</a:t>
            </a:r>
            <a:r>
              <a:rPr dirty="0"/>
              <a:t> dark/light,</a:t>
            </a:r>
            <a:br>
              <a:rPr dirty="0"/>
            </a:br>
            <a:r>
              <a:rPr dirty="0" err="1"/>
              <a:t>cautare</a:t>
            </a:r>
            <a:r>
              <a:rPr dirty="0"/>
              <a:t> global</a:t>
            </a:r>
            <a:r>
              <a:rPr lang="ro-RO" dirty="0"/>
              <a:t>ă</a:t>
            </a:r>
            <a:r>
              <a:rPr dirty="0"/>
              <a:t>, </a:t>
            </a:r>
            <a:r>
              <a:rPr dirty="0" err="1"/>
              <a:t>filtre</a:t>
            </a:r>
            <a:r>
              <a:rPr dirty="0"/>
              <a:t> </a:t>
            </a:r>
            <a:r>
              <a:rPr dirty="0" err="1"/>
              <a:t>avansate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62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rPr dirty="0" err="1"/>
              <a:t>Tehnologii</a:t>
            </a:r>
            <a:r>
              <a:rPr dirty="0"/>
              <a:t> </a:t>
            </a:r>
            <a:r>
              <a:rPr lang="ro-RO" dirty="0"/>
              <a:t>u</a:t>
            </a:r>
            <a:r>
              <a:rPr dirty="0" err="1"/>
              <a:t>tilizate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0867" y="1371600"/>
            <a:ext cx="2606040" cy="47548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3747" y="150876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7C3AED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9507" y="2011680"/>
            <a:ext cx="1508760" cy="508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9467" y="2286000"/>
            <a:ext cx="2148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A0A0B0"/>
                </a:solidFill>
                <a:latin typeface="Segoe UI"/>
              </a:defRPr>
            </a:pPr>
            <a:r>
              <a:t>Python 3 + Django 5.2</a:t>
            </a:r>
          </a:p>
          <a:p>
            <a:pPr>
              <a:spcAft>
                <a:spcPts val="1000"/>
              </a:spcAft>
              <a:defRPr sz="1400">
                <a:solidFill>
                  <a:srgbClr val="A0A0B0"/>
                </a:solidFill>
                <a:latin typeface="Segoe UI"/>
              </a:defRPr>
            </a:pPr>
            <a:r>
              <a:t>Django REST Framework</a:t>
            </a:r>
          </a:p>
          <a:p>
            <a:pPr>
              <a:spcAft>
                <a:spcPts val="1000"/>
              </a:spcAft>
              <a:defRPr sz="1400">
                <a:solidFill>
                  <a:srgbClr val="A0A0B0"/>
                </a:solidFill>
                <a:latin typeface="Segoe UI"/>
              </a:defRPr>
            </a:pPr>
            <a:r>
              <a:t>SimpleJWT (autentificare)</a:t>
            </a:r>
          </a:p>
          <a:p>
            <a:pPr>
              <a:spcAft>
                <a:spcPts val="1000"/>
              </a:spcAft>
              <a:defRPr sz="1400">
                <a:solidFill>
                  <a:srgbClr val="A0A0B0"/>
                </a:solidFill>
                <a:latin typeface="Segoe UI"/>
              </a:defRPr>
            </a:pPr>
            <a:r>
              <a:t>Django Channels (WebSocket)</a:t>
            </a:r>
          </a:p>
          <a:p>
            <a:pPr>
              <a:spcAft>
                <a:spcPts val="1000"/>
              </a:spcAft>
              <a:defRPr sz="1400">
                <a:solidFill>
                  <a:srgbClr val="A0A0B0"/>
                </a:solidFill>
                <a:latin typeface="Segoe UI"/>
              </a:defRPr>
            </a:pPr>
            <a:r>
              <a:t>Django-Q2 (task-uri periodice)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75507" y="1371600"/>
            <a:ext cx="2606040" cy="47548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58387" y="150876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06B6D4"/>
                </a:solidFill>
                <a:latin typeface="Segoe UI"/>
              </a:defRPr>
            </a:pPr>
            <a:r>
              <a:t>Baza de date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24147" y="2011680"/>
            <a:ext cx="150876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04107" y="2286000"/>
            <a:ext cx="2148840" cy="2113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A0A0B0"/>
                </a:solidFill>
                <a:latin typeface="Segoe UI"/>
              </a:defRPr>
            </a:pPr>
            <a:r>
              <a:rPr dirty="0"/>
              <a:t>PostgreSQL</a:t>
            </a:r>
          </a:p>
          <a:p>
            <a:pPr>
              <a:spcAft>
                <a:spcPts val="1000"/>
              </a:spcAft>
              <a:defRPr sz="1400">
                <a:solidFill>
                  <a:srgbClr val="A0A0B0"/>
                </a:solidFill>
                <a:latin typeface="Segoe UI"/>
              </a:defRPr>
            </a:pPr>
            <a:r>
              <a:rPr dirty="0" err="1"/>
              <a:t>JSONField</a:t>
            </a:r>
            <a:r>
              <a:rPr dirty="0"/>
              <a:t> </a:t>
            </a:r>
            <a:r>
              <a:rPr dirty="0" err="1"/>
              <a:t>nativ</a:t>
            </a: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A0A0B0"/>
                </a:solidFill>
                <a:latin typeface="Segoe UI"/>
              </a:defRPr>
            </a:pPr>
            <a:r>
              <a:rPr dirty="0" err="1"/>
              <a:t>Constrangeri</a:t>
            </a:r>
            <a:r>
              <a:rPr dirty="0"/>
              <a:t> unique (</a:t>
            </a:r>
            <a:r>
              <a:rPr dirty="0" err="1"/>
              <a:t>upsert</a:t>
            </a:r>
            <a:r>
              <a:rPr dirty="0"/>
              <a:t>)</a:t>
            </a:r>
          </a:p>
          <a:p>
            <a:pPr>
              <a:spcAft>
                <a:spcPts val="1000"/>
              </a:spcAft>
              <a:defRPr sz="1400">
                <a:solidFill>
                  <a:srgbClr val="A0A0B0"/>
                </a:solidFill>
                <a:latin typeface="Segoe UI"/>
              </a:defRPr>
            </a:pPr>
            <a:r>
              <a:rPr dirty="0" err="1"/>
              <a:t>Tranzac</a:t>
            </a:r>
            <a:r>
              <a:rPr lang="ro-RO" dirty="0"/>
              <a:t>ț</a:t>
            </a:r>
            <a:r>
              <a:rPr dirty="0"/>
              <a:t>ii ACID</a:t>
            </a:r>
          </a:p>
          <a:p>
            <a:pPr>
              <a:spcAft>
                <a:spcPts val="1000"/>
              </a:spcAft>
              <a:defRPr sz="1400">
                <a:solidFill>
                  <a:srgbClr val="A0A0B0"/>
                </a:solidFill>
                <a:latin typeface="Segoe UI"/>
              </a:defRPr>
            </a:pPr>
            <a:r>
              <a:rPr dirty="0" err="1"/>
              <a:t>ManyToManyField</a:t>
            </a:r>
            <a:r>
              <a:rPr dirty="0"/>
              <a:t> (favorite)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147" y="1371600"/>
            <a:ext cx="2606040" cy="47548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93027" y="150876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EC4899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58787" y="2011680"/>
            <a:ext cx="1508760" cy="508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38747" y="2286000"/>
            <a:ext cx="2148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A0A0B0"/>
                </a:solidFill>
                <a:latin typeface="Segoe UI"/>
              </a:defRPr>
            </a:pPr>
            <a:r>
              <a:rPr dirty="0"/>
              <a:t>React 19 (hooks, Context API)</a:t>
            </a:r>
          </a:p>
          <a:p>
            <a:pPr>
              <a:spcAft>
                <a:spcPts val="1000"/>
              </a:spcAft>
              <a:defRPr sz="1400">
                <a:solidFill>
                  <a:srgbClr val="A0A0B0"/>
                </a:solidFill>
                <a:latin typeface="Segoe UI"/>
              </a:defRPr>
            </a:pPr>
            <a:r>
              <a:rPr dirty="0"/>
              <a:t>React Router </a:t>
            </a:r>
            <a:r>
              <a:rPr dirty="0" err="1"/>
              <a:t>v7</a:t>
            </a: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A0A0B0"/>
                </a:solidFill>
                <a:latin typeface="Segoe UI"/>
              </a:defRPr>
            </a:pPr>
            <a:r>
              <a:rPr dirty="0"/>
              <a:t>Bootstrap 5 (responsive)</a:t>
            </a:r>
          </a:p>
          <a:p>
            <a:pPr>
              <a:spcAft>
                <a:spcPts val="1000"/>
              </a:spcAft>
              <a:defRPr sz="1400">
                <a:solidFill>
                  <a:srgbClr val="A0A0B0"/>
                </a:solidFill>
                <a:latin typeface="Segoe UI"/>
              </a:defRPr>
            </a:pPr>
            <a:r>
              <a:rPr dirty="0" err="1"/>
              <a:t>Axios</a:t>
            </a:r>
            <a:r>
              <a:rPr dirty="0"/>
              <a:t> (</a:t>
            </a:r>
            <a:r>
              <a:rPr dirty="0" err="1"/>
              <a:t>interceptori</a:t>
            </a:r>
            <a:r>
              <a:rPr dirty="0"/>
              <a:t> </a:t>
            </a:r>
            <a:r>
              <a:rPr dirty="0" err="1"/>
              <a:t>JWT</a:t>
            </a:r>
            <a:r>
              <a:rPr dirty="0"/>
              <a:t>)</a:t>
            </a:r>
          </a:p>
          <a:p>
            <a:pPr>
              <a:spcAft>
                <a:spcPts val="1000"/>
              </a:spcAft>
              <a:defRPr sz="1400">
                <a:solidFill>
                  <a:srgbClr val="A0A0B0"/>
                </a:solidFill>
                <a:latin typeface="Segoe UI"/>
              </a:defRPr>
            </a:pPr>
            <a:r>
              <a:rPr dirty="0"/>
              <a:t>CSS custom (</a:t>
            </a:r>
            <a:r>
              <a:rPr dirty="0" err="1"/>
              <a:t>teme</a:t>
            </a:r>
            <a:r>
              <a:rPr dirty="0"/>
              <a:t> dark/light)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44787" y="1371600"/>
            <a:ext cx="2606040" cy="47548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27667" y="150876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10B981"/>
                </a:solidFill>
                <a:latin typeface="Segoe UI"/>
              </a:defRPr>
            </a:pPr>
            <a:r>
              <a:t>Extern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93427" y="2011680"/>
            <a:ext cx="1508760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73387" y="2286000"/>
            <a:ext cx="214884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A0A0B0"/>
                </a:solidFill>
                <a:latin typeface="Segoe UI"/>
              </a:defRPr>
            </a:pPr>
            <a:r>
              <a:rPr dirty="0"/>
              <a:t>API </a:t>
            </a:r>
            <a:r>
              <a:rPr dirty="0" err="1"/>
              <a:t>LoL</a:t>
            </a:r>
            <a:r>
              <a:rPr dirty="0"/>
              <a:t> Esports (</a:t>
            </a:r>
            <a:r>
              <a:rPr dirty="0" err="1"/>
              <a:t>neoficial</a:t>
            </a:r>
            <a:r>
              <a:rPr dirty="0"/>
              <a:t>)</a:t>
            </a:r>
          </a:p>
          <a:p>
            <a:pPr>
              <a:spcAft>
                <a:spcPts val="1000"/>
              </a:spcAft>
              <a:defRPr sz="1400">
                <a:solidFill>
                  <a:srgbClr val="A0A0B0"/>
                </a:solidFill>
                <a:latin typeface="Segoe UI"/>
              </a:defRPr>
            </a:pPr>
            <a:r>
              <a:rPr dirty="0"/>
              <a:t>Gmail SMTP (</a:t>
            </a:r>
            <a:r>
              <a:rPr dirty="0" err="1"/>
              <a:t>notific</a:t>
            </a:r>
            <a:r>
              <a:rPr lang="ro-RO" dirty="0"/>
              <a:t>ă</a:t>
            </a:r>
            <a:r>
              <a:rPr dirty="0" err="1"/>
              <a:t>ri</a:t>
            </a:r>
            <a:r>
              <a:rPr dirty="0"/>
              <a:t>)</a:t>
            </a:r>
          </a:p>
          <a:p>
            <a:pPr>
              <a:spcAft>
                <a:spcPts val="1000"/>
              </a:spcAft>
              <a:defRPr sz="1400">
                <a:solidFill>
                  <a:srgbClr val="A0A0B0"/>
                </a:solidFill>
                <a:latin typeface="Segoe UI"/>
              </a:defRPr>
            </a:pPr>
            <a:r>
              <a:rPr dirty="0"/>
              <a:t>YouTube (VOD links)</a:t>
            </a:r>
          </a:p>
          <a:p>
            <a:pPr>
              <a:spcAft>
                <a:spcPts val="1000"/>
              </a:spcAft>
              <a:defRPr sz="1400">
                <a:solidFill>
                  <a:srgbClr val="A0A0B0"/>
                </a:solidFill>
                <a:latin typeface="Segoe UI"/>
              </a:defRPr>
            </a:pPr>
            <a:r>
              <a:rPr dirty="0"/>
              <a:t>Team name aliases (70+)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62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rPr dirty="0" err="1"/>
              <a:t>Arhitectura</a:t>
            </a:r>
            <a:r>
              <a:rPr dirty="0"/>
              <a:t> </a:t>
            </a:r>
            <a:r>
              <a:rPr lang="ro-RO" dirty="0"/>
              <a:t>s</a:t>
            </a:r>
            <a:r>
              <a:rPr dirty="0" err="1"/>
              <a:t>istemului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48463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6B6D4"/>
                </a:solidFill>
                <a:latin typeface="Segoe UI"/>
              </a:defRPr>
            </a:pPr>
            <a:r>
              <a:t>FRONTEND (React SPA)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926080" cy="253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A0A0B0"/>
                </a:solidFill>
                <a:latin typeface="Segoe UI"/>
              </a:defRPr>
            </a:pPr>
            <a:r>
              <a:rPr dirty="0"/>
              <a:t>12 </a:t>
            </a:r>
            <a:r>
              <a:rPr dirty="0" err="1"/>
              <a:t>pagini</a:t>
            </a:r>
            <a:r>
              <a:rPr dirty="0"/>
              <a:t> (Home, Teams, Players, Tournaments, Matches, etc.)</a:t>
            </a:r>
          </a:p>
          <a:p>
            <a:pPr>
              <a:spcAft>
                <a:spcPts val="1000"/>
              </a:spcAft>
              <a:defRPr sz="1300">
                <a:solidFill>
                  <a:srgbClr val="A0A0B0"/>
                </a:solidFill>
                <a:latin typeface="Segoe UI"/>
              </a:defRPr>
            </a:pPr>
            <a:r>
              <a:rPr dirty="0"/>
              <a:t>3 Context Providers (Auth, Region, Theme)</a:t>
            </a:r>
          </a:p>
          <a:p>
            <a:pPr>
              <a:spcAft>
                <a:spcPts val="1000"/>
              </a:spcAft>
              <a:defRPr sz="1300">
                <a:solidFill>
                  <a:srgbClr val="A0A0B0"/>
                </a:solidFill>
                <a:latin typeface="Segoe UI"/>
              </a:defRPr>
            </a:pPr>
            <a:r>
              <a:rPr dirty="0"/>
              <a:t>C</a:t>
            </a:r>
            <a:r>
              <a:rPr lang="ro-RO" dirty="0"/>
              <a:t>ă</a:t>
            </a:r>
            <a:r>
              <a:rPr dirty="0" err="1"/>
              <a:t>utare</a:t>
            </a:r>
            <a:r>
              <a:rPr dirty="0"/>
              <a:t> global</a:t>
            </a:r>
            <a:r>
              <a:rPr lang="ro-RO" dirty="0"/>
              <a:t>ă</a:t>
            </a:r>
            <a:r>
              <a:rPr dirty="0"/>
              <a:t> cu debounce </a:t>
            </a:r>
            <a:r>
              <a:rPr dirty="0" err="1"/>
              <a:t>300ms</a:t>
            </a:r>
            <a:endParaRPr dirty="0"/>
          </a:p>
          <a:p>
            <a:pPr>
              <a:spcAft>
                <a:spcPts val="1000"/>
              </a:spcAft>
              <a:defRPr sz="1300">
                <a:solidFill>
                  <a:srgbClr val="A0A0B0"/>
                </a:solidFill>
                <a:latin typeface="Segoe UI"/>
              </a:defRPr>
            </a:pPr>
            <a:r>
              <a:rPr dirty="0" err="1"/>
              <a:t>Filtre</a:t>
            </a:r>
            <a:r>
              <a:rPr dirty="0"/>
              <a:t>, sort</a:t>
            </a:r>
            <a:r>
              <a:rPr lang="ro-RO" dirty="0"/>
              <a:t>ă</a:t>
            </a:r>
            <a:r>
              <a:rPr dirty="0" err="1"/>
              <a:t>ri</a:t>
            </a:r>
            <a:r>
              <a:rPr dirty="0"/>
              <a:t>, tab-</a:t>
            </a:r>
            <a:r>
              <a:rPr dirty="0" err="1"/>
              <a:t>uri</a:t>
            </a:r>
            <a:endParaRPr dirty="0"/>
          </a:p>
          <a:p>
            <a:pPr>
              <a:spcAft>
                <a:spcPts val="1000"/>
              </a:spcAft>
              <a:defRPr sz="1300">
                <a:solidFill>
                  <a:srgbClr val="A0A0B0"/>
                </a:solidFill>
                <a:latin typeface="Segoe UI"/>
              </a:defRPr>
            </a:pPr>
            <a:r>
              <a:rPr dirty="0"/>
              <a:t>Interceptor </a:t>
            </a:r>
            <a:r>
              <a:rPr dirty="0" err="1"/>
              <a:t>Axios</a:t>
            </a:r>
            <a:r>
              <a:rPr dirty="0"/>
              <a:t> </a:t>
            </a:r>
            <a:r>
              <a:rPr dirty="0" err="1"/>
              <a:t>pentru</a:t>
            </a:r>
            <a:r>
              <a:rPr dirty="0"/>
              <a:t> </a:t>
            </a:r>
            <a:r>
              <a:rPr dirty="0" err="1"/>
              <a:t>JWT</a:t>
            </a:r>
            <a:r>
              <a:rPr dirty="0"/>
              <a:t> refresh automat</a:t>
            </a:r>
          </a:p>
          <a:p>
            <a:pPr>
              <a:spcAft>
                <a:spcPts val="1000"/>
              </a:spcAft>
              <a:defRPr sz="1300">
                <a:solidFill>
                  <a:srgbClr val="A0A0B0"/>
                </a:solidFill>
                <a:latin typeface="Segoe UI"/>
              </a:defRPr>
            </a:pPr>
            <a:r>
              <a:rPr dirty="0" err="1"/>
              <a:t>Tema</a:t>
            </a:r>
            <a:r>
              <a:rPr dirty="0"/>
              <a:t> dark/light cu Bootstrap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71600"/>
            <a:ext cx="3474720" cy="48463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34840" y="1463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3AED"/>
                </a:solidFill>
                <a:latin typeface="Segoe UI"/>
              </a:defRPr>
            </a:pPr>
            <a:r>
              <a:t>BACKEND (Django)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01168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A0A0B0"/>
                </a:solidFill>
                <a:latin typeface="Segoe UI"/>
              </a:defRPr>
            </a:pPr>
            <a:r>
              <a:t>7 modele (Game, Team, Player, Tournament, Match, ...)</a:t>
            </a:r>
          </a:p>
          <a:p>
            <a:pPr>
              <a:spcAft>
                <a:spcPts val="1000"/>
              </a:spcAft>
              <a:defRPr sz="1300">
                <a:solidFill>
                  <a:srgbClr val="A0A0B0"/>
                </a:solidFill>
                <a:latin typeface="Segoe UI"/>
              </a:defRPr>
            </a:pPr>
            <a:r>
              <a:t>API REST cu 5 ViewSets + custom actions</a:t>
            </a:r>
          </a:p>
          <a:p>
            <a:pPr>
              <a:spcAft>
                <a:spcPts val="1000"/>
              </a:spcAft>
              <a:defRPr sz="1300">
                <a:solidFill>
                  <a:srgbClr val="A0A0B0"/>
                </a:solidFill>
                <a:latin typeface="Segoe UI"/>
              </a:defRPr>
            </a:pPr>
            <a:r>
              <a:t>9 serializere DRF</a:t>
            </a:r>
          </a:p>
          <a:p>
            <a:pPr>
              <a:spcAft>
                <a:spcPts val="1000"/>
              </a:spcAft>
              <a:defRPr sz="1300">
                <a:solidFill>
                  <a:srgbClr val="A0A0B0"/>
                </a:solidFill>
                <a:latin typeface="Segoe UI"/>
              </a:defRPr>
            </a:pPr>
            <a:r>
              <a:t>JWT auth (access 60m, refresh 7d)</a:t>
            </a:r>
          </a:p>
          <a:p>
            <a:pPr>
              <a:spcAft>
                <a:spcPts val="1000"/>
              </a:spcAft>
              <a:defRPr sz="1300">
                <a:solidFill>
                  <a:srgbClr val="A0A0B0"/>
                </a:solidFill>
                <a:latin typeface="Segoe UI"/>
              </a:defRPr>
            </a:pPr>
            <a:r>
              <a:t>WebSocket broadcast (Channels)</a:t>
            </a:r>
          </a:p>
          <a:p>
            <a:pPr>
              <a:spcAft>
                <a:spcPts val="1000"/>
              </a:spcAft>
              <a:defRPr sz="1300">
                <a:solidFill>
                  <a:srgbClr val="A0A0B0"/>
                </a:solidFill>
                <a:latin typeface="Segoe UI"/>
              </a:defRPr>
            </a:pPr>
            <a:r>
              <a:t>3 task-uri periodice (Django-Q)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371600"/>
            <a:ext cx="3200400" cy="48463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SERVICII EXTERNE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011680"/>
            <a:ext cx="28346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A0A0B0"/>
                </a:solidFill>
                <a:latin typeface="Segoe UI"/>
              </a:defRPr>
            </a:pPr>
            <a:r>
              <a:rPr dirty="0"/>
              <a:t>PostgreSQL (</a:t>
            </a:r>
            <a:r>
              <a:rPr dirty="0" err="1"/>
              <a:t>esportsdb</a:t>
            </a:r>
            <a:r>
              <a:rPr dirty="0"/>
              <a:t>)</a:t>
            </a:r>
          </a:p>
          <a:p>
            <a:pPr>
              <a:spcAft>
                <a:spcPts val="1000"/>
              </a:spcAft>
              <a:defRPr sz="1300">
                <a:solidFill>
                  <a:srgbClr val="A0A0B0"/>
                </a:solidFill>
                <a:latin typeface="Segoe UI"/>
              </a:defRPr>
            </a:pPr>
            <a:r>
              <a:rPr dirty="0"/>
              <a:t>API </a:t>
            </a:r>
            <a:r>
              <a:rPr dirty="0" err="1"/>
              <a:t>LoL</a:t>
            </a:r>
            <a:r>
              <a:rPr dirty="0"/>
              <a:t> Esports (</a:t>
            </a:r>
            <a:r>
              <a:rPr dirty="0" err="1"/>
              <a:t>getSchedule</a:t>
            </a:r>
            <a:r>
              <a:rPr dirty="0"/>
              <a:t>, </a:t>
            </a:r>
            <a:r>
              <a:rPr dirty="0" err="1"/>
              <a:t>getEventDetails</a:t>
            </a:r>
            <a:r>
              <a:rPr dirty="0"/>
              <a:t>)</a:t>
            </a:r>
          </a:p>
          <a:p>
            <a:pPr>
              <a:spcAft>
                <a:spcPts val="1000"/>
              </a:spcAft>
              <a:defRPr sz="1300">
                <a:solidFill>
                  <a:srgbClr val="A0A0B0"/>
                </a:solidFill>
                <a:latin typeface="Segoe UI"/>
              </a:defRPr>
            </a:pPr>
            <a:r>
              <a:rPr dirty="0"/>
              <a:t>Gmail SMTP (</a:t>
            </a:r>
            <a:r>
              <a:rPr dirty="0" err="1"/>
              <a:t>notific</a:t>
            </a:r>
            <a:r>
              <a:rPr lang="ro-RO" dirty="0"/>
              <a:t>ă</a:t>
            </a:r>
            <a:r>
              <a:rPr dirty="0" err="1"/>
              <a:t>ri</a:t>
            </a:r>
            <a:r>
              <a:rPr dirty="0"/>
              <a:t> email)</a:t>
            </a:r>
          </a:p>
          <a:p>
            <a:pPr>
              <a:spcAft>
                <a:spcPts val="1000"/>
              </a:spcAft>
              <a:defRPr sz="1300">
                <a:solidFill>
                  <a:srgbClr val="A0A0B0"/>
                </a:solidFill>
                <a:latin typeface="Segoe UI"/>
              </a:defRPr>
            </a:pPr>
            <a:r>
              <a:rPr dirty="0"/>
              <a:t>YouTube (VOD links)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3200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0A0B0"/>
                </a:solidFill>
                <a:latin typeface="Segoe UI"/>
              </a:defRPr>
            </a:pPr>
            <a:r>
              <a:t>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200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0A0B0"/>
                </a:solidFill>
                <a:latin typeface="Segoe UI"/>
              </a:defRPr>
            </a:pPr>
            <a:r>
              <a:t>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62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Pipeline-ul Automat de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48463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937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Segoe UI"/>
              </a:defRPr>
            </a:pPr>
            <a:r>
              <a:rPr lang="ro-RO" dirty="0"/>
              <a:t>    </a:t>
            </a:r>
            <a:r>
              <a:rPr dirty="0" err="1"/>
              <a:t>Faza</a:t>
            </a:r>
            <a:r>
              <a:rPr dirty="0"/>
              <a:t> 1: Fetch </a:t>
            </a:r>
            <a:r>
              <a:rPr lang="ro-RO" dirty="0"/>
              <a:t>p</a:t>
            </a:r>
            <a:r>
              <a:rPr dirty="0" err="1"/>
              <a:t>rogra</a:t>
            </a:r>
            <a:r>
              <a:rPr lang="ro-RO" dirty="0"/>
              <a:t>me ligi</a:t>
            </a:r>
            <a:r>
              <a:rPr dirty="0"/>
              <a:t> (la 15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93776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A0A0B0"/>
                </a:solidFill>
                <a:latin typeface="Segoe UI"/>
              </a:defRPr>
            </a:pPr>
            <a:r>
              <a:rPr dirty="0" err="1"/>
              <a:t>Itereaz</a:t>
            </a:r>
            <a:r>
              <a:rPr lang="ro-RO" dirty="0"/>
              <a:t>ă</a:t>
            </a:r>
            <a:r>
              <a:rPr dirty="0"/>
              <a:t> </a:t>
            </a:r>
            <a:r>
              <a:rPr dirty="0" err="1"/>
              <a:t>prin</a:t>
            </a:r>
            <a:r>
              <a:rPr dirty="0"/>
              <a:t> </a:t>
            </a:r>
            <a:r>
              <a:rPr lang="ro-RO" dirty="0"/>
              <a:t>5</a:t>
            </a:r>
            <a:r>
              <a:rPr dirty="0"/>
              <a:t> </a:t>
            </a:r>
            <a:r>
              <a:rPr dirty="0" err="1"/>
              <a:t>ligi</a:t>
            </a:r>
            <a:r>
              <a:rPr dirty="0"/>
              <a:t>: </a:t>
            </a:r>
            <a:r>
              <a:rPr dirty="0" err="1"/>
              <a:t>LCK</a:t>
            </a:r>
            <a:r>
              <a:rPr dirty="0"/>
              <a:t>, </a:t>
            </a:r>
            <a:r>
              <a:rPr dirty="0" err="1"/>
              <a:t>LEC</a:t>
            </a:r>
            <a:r>
              <a:rPr dirty="0"/>
              <a:t>, LPL, LCS</a:t>
            </a:r>
            <a:r>
              <a:rPr lang="ro-RO" dirty="0"/>
              <a:t>, APAC</a:t>
            </a:r>
            <a:endParaRPr dirty="0"/>
          </a:p>
          <a:p>
            <a:pPr>
              <a:spcAft>
                <a:spcPts val="1000"/>
              </a:spcAft>
              <a:defRPr sz="1500">
                <a:solidFill>
                  <a:srgbClr val="A0A0B0"/>
                </a:solidFill>
                <a:latin typeface="Segoe UI"/>
              </a:defRPr>
            </a:pPr>
            <a:r>
              <a:rPr dirty="0" err="1"/>
              <a:t>Apeleaz</a:t>
            </a:r>
            <a:r>
              <a:rPr lang="ro-RO" dirty="0"/>
              <a:t>ă</a:t>
            </a:r>
            <a:r>
              <a:rPr dirty="0"/>
              <a:t> </a:t>
            </a:r>
            <a:r>
              <a:rPr dirty="0" err="1"/>
              <a:t>getSchedule</a:t>
            </a:r>
            <a:r>
              <a:rPr dirty="0"/>
              <a:t> </a:t>
            </a:r>
            <a:r>
              <a:rPr dirty="0" err="1"/>
              <a:t>pentru</a:t>
            </a:r>
            <a:r>
              <a:rPr dirty="0"/>
              <a:t> </a:t>
            </a:r>
            <a:r>
              <a:rPr dirty="0" err="1"/>
              <a:t>fiecare</a:t>
            </a:r>
            <a:r>
              <a:rPr dirty="0"/>
              <a:t> </a:t>
            </a:r>
            <a:r>
              <a:rPr dirty="0" err="1"/>
              <a:t>lig</a:t>
            </a:r>
            <a:r>
              <a:rPr lang="ro-RO" dirty="0"/>
              <a:t>ă</a:t>
            </a:r>
            <a:endParaRPr dirty="0"/>
          </a:p>
          <a:p>
            <a:pPr>
              <a:spcAft>
                <a:spcPts val="1000"/>
              </a:spcAft>
              <a:defRPr sz="1500">
                <a:solidFill>
                  <a:srgbClr val="A0A0B0"/>
                </a:solidFill>
                <a:latin typeface="Segoe UI"/>
              </a:defRPr>
            </a:pPr>
            <a:r>
              <a:rPr dirty="0" err="1"/>
              <a:t>DataMapper</a:t>
            </a:r>
            <a:r>
              <a:rPr dirty="0"/>
              <a:t> </a:t>
            </a:r>
            <a:r>
              <a:rPr dirty="0" err="1"/>
              <a:t>extrage</a:t>
            </a:r>
            <a:r>
              <a:rPr dirty="0"/>
              <a:t>: </a:t>
            </a:r>
            <a:r>
              <a:rPr dirty="0" err="1"/>
              <a:t>echipe</a:t>
            </a:r>
            <a:r>
              <a:rPr dirty="0"/>
              <a:t>, </a:t>
            </a:r>
            <a:r>
              <a:rPr dirty="0" err="1"/>
              <a:t>scor</a:t>
            </a:r>
            <a:r>
              <a:rPr dirty="0"/>
              <a:t>, stare, </a:t>
            </a:r>
            <a:r>
              <a:rPr dirty="0" err="1"/>
              <a:t>dat</a:t>
            </a:r>
            <a:r>
              <a:rPr lang="ro-RO" dirty="0"/>
              <a:t>ă</a:t>
            </a:r>
            <a:endParaRPr dirty="0"/>
          </a:p>
          <a:p>
            <a:pPr>
              <a:spcAft>
                <a:spcPts val="1000"/>
              </a:spcAft>
              <a:defRPr sz="1500">
                <a:solidFill>
                  <a:srgbClr val="A0A0B0"/>
                </a:solidFill>
                <a:latin typeface="Segoe UI"/>
              </a:defRPr>
            </a:pPr>
            <a:r>
              <a:rPr dirty="0" err="1"/>
              <a:t>Upsert</a:t>
            </a:r>
            <a:r>
              <a:rPr dirty="0"/>
              <a:t> cu</a:t>
            </a:r>
            <a:r>
              <a:rPr lang="ro-RO" dirty="0"/>
              <a:t> </a:t>
            </a:r>
            <a:r>
              <a:rPr dirty="0" err="1"/>
              <a:t>Match.objects.update_or_create</a:t>
            </a:r>
            <a:r>
              <a:rPr dirty="0"/>
              <a:t>(</a:t>
            </a:r>
            <a:r>
              <a:rPr dirty="0" err="1"/>
              <a:t>external_id</a:t>
            </a:r>
            <a:r>
              <a:rPr dirty="0"/>
              <a:t>=...)</a:t>
            </a:r>
          </a:p>
          <a:p>
            <a:pPr>
              <a:spcAft>
                <a:spcPts val="1000"/>
              </a:spcAft>
              <a:defRPr sz="1500">
                <a:solidFill>
                  <a:srgbClr val="A0A0B0"/>
                </a:solidFill>
                <a:latin typeface="Segoe UI"/>
              </a:defRPr>
            </a:pPr>
            <a:r>
              <a:rPr dirty="0" err="1"/>
              <a:t>Paginare</a:t>
            </a:r>
            <a:r>
              <a:rPr dirty="0"/>
              <a:t> automata (</a:t>
            </a:r>
            <a:r>
              <a:rPr dirty="0" err="1"/>
              <a:t>pages.newer</a:t>
            </a:r>
            <a:r>
              <a:rPr dirty="0"/>
              <a:t> token)</a:t>
            </a:r>
          </a:p>
          <a:p>
            <a:pPr>
              <a:spcAft>
                <a:spcPts val="1000"/>
              </a:spcAft>
              <a:defRPr sz="1500">
                <a:solidFill>
                  <a:srgbClr val="A0A0B0"/>
                </a:solidFill>
                <a:latin typeface="Segoe UI"/>
              </a:defRPr>
            </a:pPr>
            <a:r>
              <a:rPr dirty="0"/>
              <a:t>Fallback VOD pe canal YouTube regional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371600"/>
            <a:ext cx="5120640" cy="214884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60" y="1463040"/>
            <a:ext cx="4754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Segoe UI"/>
              </a:defRPr>
            </a:pPr>
            <a:r>
              <a:rPr dirty="0" err="1"/>
              <a:t>Faza</a:t>
            </a:r>
            <a:r>
              <a:rPr dirty="0"/>
              <a:t> 2:</a:t>
            </a:r>
            <a:r>
              <a:rPr lang="ro-RO" dirty="0"/>
              <a:t> Actualizare</a:t>
            </a:r>
            <a:r>
              <a:rPr dirty="0"/>
              <a:t> </a:t>
            </a:r>
            <a:r>
              <a:rPr lang="ro-RO" dirty="0"/>
              <a:t>r</a:t>
            </a:r>
            <a:r>
              <a:rPr dirty="0" err="1"/>
              <a:t>ezultate</a:t>
            </a:r>
            <a:r>
              <a:rPr dirty="0"/>
              <a:t> (la 5 min)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011680"/>
            <a:ext cx="4754880" cy="990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Segoe UI"/>
              </a:defRPr>
            </a:pPr>
            <a:r>
              <a:rPr dirty="0" err="1"/>
              <a:t>getEventDetails</a:t>
            </a:r>
            <a:r>
              <a:rPr dirty="0"/>
              <a:t> per </a:t>
            </a:r>
            <a:r>
              <a:rPr dirty="0" err="1"/>
              <a:t>meci</a:t>
            </a:r>
            <a:r>
              <a:rPr dirty="0"/>
              <a:t> (</a:t>
            </a:r>
            <a:r>
              <a:rPr dirty="0" err="1"/>
              <a:t>detalii</a:t>
            </a:r>
            <a:r>
              <a:rPr dirty="0"/>
              <a:t> per </a:t>
            </a:r>
            <a:r>
              <a:rPr dirty="0" err="1"/>
              <a:t>joc</a:t>
            </a:r>
            <a:r>
              <a:rPr dirty="0"/>
              <a:t>)</a:t>
            </a: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Segoe UI"/>
              </a:defRPr>
            </a:pPr>
            <a:r>
              <a:rPr dirty="0" err="1"/>
              <a:t>Scor</a:t>
            </a:r>
            <a:r>
              <a:rPr dirty="0"/>
              <a:t> final, VOD-</a:t>
            </a:r>
            <a:r>
              <a:rPr dirty="0" err="1"/>
              <a:t>uri</a:t>
            </a:r>
            <a:endParaRPr dirty="0"/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Segoe UI"/>
              </a:defRPr>
            </a:pPr>
            <a:r>
              <a:rPr dirty="0" err="1"/>
              <a:t>Echipe</a:t>
            </a:r>
            <a:r>
              <a:rPr dirty="0"/>
              <a:t> cu side blue/red per </a:t>
            </a:r>
            <a:r>
              <a:rPr dirty="0" err="1"/>
              <a:t>joc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6355080" y="3749039"/>
            <a:ext cx="5120640" cy="24688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3840480"/>
            <a:ext cx="4754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C4899"/>
                </a:solidFill>
                <a:latin typeface="Segoe UI"/>
              </a:defRPr>
            </a:pPr>
            <a:r>
              <a:rPr lang="ro-RO" dirty="0"/>
              <a:t>		</a:t>
            </a:r>
            <a:r>
              <a:rPr dirty="0" err="1"/>
              <a:t>Notific</a:t>
            </a:r>
            <a:r>
              <a:rPr lang="ro-RO" dirty="0"/>
              <a:t>ă</a:t>
            </a:r>
            <a:r>
              <a:rPr dirty="0" err="1"/>
              <a:t>ri</a:t>
            </a:r>
            <a:r>
              <a:rPr dirty="0"/>
              <a:t> </a:t>
            </a:r>
            <a:r>
              <a:rPr lang="ro-RO" dirty="0"/>
              <a:t>e</a:t>
            </a:r>
            <a:r>
              <a:rPr dirty="0"/>
              <a:t>mail (la 5 min)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43891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Segoe UI"/>
              </a:defRPr>
            </a:pPr>
            <a:r>
              <a:rPr dirty="0" err="1"/>
              <a:t>2h</a:t>
            </a:r>
            <a:r>
              <a:rPr dirty="0"/>
              <a:t> </a:t>
            </a:r>
            <a:r>
              <a:rPr dirty="0" err="1"/>
              <a:t>inainte</a:t>
            </a:r>
            <a:r>
              <a:rPr dirty="0"/>
              <a:t>: email </a:t>
            </a:r>
            <a:r>
              <a:rPr dirty="0" err="1"/>
              <a:t>pentru</a:t>
            </a:r>
            <a:r>
              <a:rPr dirty="0"/>
              <a:t> </a:t>
            </a:r>
            <a:r>
              <a:rPr dirty="0" err="1"/>
              <a:t>echipe</a:t>
            </a:r>
            <a:r>
              <a:rPr dirty="0"/>
              <a:t> favorite</a:t>
            </a: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Segoe UI"/>
              </a:defRPr>
            </a:pPr>
            <a:r>
              <a:rPr dirty="0" err="1"/>
              <a:t>10min</a:t>
            </a:r>
            <a:r>
              <a:rPr dirty="0"/>
              <a:t> </a:t>
            </a:r>
            <a:r>
              <a:rPr dirty="0" err="1"/>
              <a:t>inainte</a:t>
            </a:r>
            <a:r>
              <a:rPr dirty="0"/>
              <a:t>: email </a:t>
            </a:r>
            <a:r>
              <a:rPr dirty="0" err="1"/>
              <a:t>pentru</a:t>
            </a:r>
            <a:r>
              <a:rPr dirty="0"/>
              <a:t> </a:t>
            </a:r>
            <a:r>
              <a:rPr dirty="0" err="1"/>
              <a:t>meciuri</a:t>
            </a:r>
            <a:r>
              <a:rPr dirty="0"/>
              <a:t> favorite</a:t>
            </a: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Segoe UI"/>
              </a:defRPr>
            </a:pPr>
            <a:r>
              <a:rPr dirty="0" err="1"/>
              <a:t>NotificationLog</a:t>
            </a:r>
            <a:r>
              <a:rPr dirty="0"/>
              <a:t> </a:t>
            </a:r>
            <a:r>
              <a:rPr dirty="0" err="1"/>
              <a:t>previne</a:t>
            </a:r>
            <a:r>
              <a:rPr dirty="0"/>
              <a:t> </a:t>
            </a:r>
            <a:r>
              <a:rPr dirty="0" err="1"/>
              <a:t>duplicatele</a:t>
            </a:r>
            <a:endParaRPr dirty="0"/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Segoe UI"/>
              </a:defRPr>
            </a:pPr>
            <a:r>
              <a:rPr dirty="0"/>
              <a:t>Gmail SMTP cu template </a:t>
            </a:r>
            <a:r>
              <a:rPr dirty="0" err="1"/>
              <a:t>personalizat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62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rPr dirty="0" err="1"/>
              <a:t>Interfa</a:t>
            </a:r>
            <a:r>
              <a:rPr lang="ro-RO" dirty="0"/>
              <a:t>ț</a:t>
            </a:r>
            <a:r>
              <a:rPr dirty="0"/>
              <a:t>a </a:t>
            </a:r>
            <a:r>
              <a:rPr lang="ro-RO" dirty="0"/>
              <a:t>u</a:t>
            </a:r>
            <a:r>
              <a:rPr dirty="0" err="1"/>
              <a:t>tilizator</a:t>
            </a:r>
            <a:r>
              <a:rPr dirty="0"/>
              <a:t> (Frontend)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6607" y="1371600"/>
            <a:ext cx="3383280" cy="48463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29487" y="1508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06B6D4"/>
                </a:solidFill>
                <a:latin typeface="Segoe UI"/>
              </a:defRPr>
            </a:pPr>
            <a:r>
              <a:t>Pagini principale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1478127" y="2011680"/>
            <a:ext cx="19202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5207" y="2286000"/>
            <a:ext cx="2926080" cy="2544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A0A0B0"/>
                </a:solidFill>
                <a:latin typeface="Segoe UI"/>
              </a:defRPr>
            </a:pPr>
            <a:r>
              <a:rPr dirty="0"/>
              <a:t>Home: c</a:t>
            </a:r>
            <a:r>
              <a:rPr lang="ro-RO" dirty="0"/>
              <a:t>ă</a:t>
            </a:r>
            <a:r>
              <a:rPr dirty="0" err="1"/>
              <a:t>utare</a:t>
            </a:r>
            <a:r>
              <a:rPr dirty="0"/>
              <a:t> global</a:t>
            </a:r>
            <a:r>
              <a:rPr lang="ro-RO" dirty="0"/>
              <a:t>ă</a:t>
            </a:r>
            <a:r>
              <a:rPr dirty="0"/>
              <a:t> + </a:t>
            </a:r>
            <a:r>
              <a:rPr dirty="0" err="1"/>
              <a:t>meciuri</a:t>
            </a:r>
            <a:r>
              <a:rPr dirty="0"/>
              <a:t> </a:t>
            </a:r>
            <a:r>
              <a:rPr dirty="0" err="1"/>
              <a:t>viitoare</a:t>
            </a: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A0A0B0"/>
                </a:solidFill>
                <a:latin typeface="Segoe UI"/>
              </a:defRPr>
            </a:pPr>
            <a:r>
              <a:rPr dirty="0"/>
              <a:t>Teams: grid cu </a:t>
            </a:r>
            <a:r>
              <a:rPr dirty="0" err="1"/>
              <a:t>filtre</a:t>
            </a:r>
            <a:r>
              <a:rPr dirty="0"/>
              <a:t> </a:t>
            </a:r>
            <a:r>
              <a:rPr lang="ro-RO" dirty="0"/>
              <a:t>ț</a:t>
            </a:r>
            <a:r>
              <a:rPr dirty="0" err="1"/>
              <a:t>ar</a:t>
            </a:r>
            <a:r>
              <a:rPr lang="ro-RO" dirty="0"/>
              <a:t>ă</a:t>
            </a:r>
            <a:r>
              <a:rPr dirty="0"/>
              <a:t>/</a:t>
            </a:r>
            <a:r>
              <a:rPr dirty="0" err="1"/>
              <a:t>regiune</a:t>
            </a: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A0A0B0"/>
                </a:solidFill>
                <a:latin typeface="Segoe UI"/>
              </a:defRPr>
            </a:pPr>
            <a:r>
              <a:rPr dirty="0"/>
              <a:t>Players: </a:t>
            </a:r>
            <a:r>
              <a:rPr dirty="0" err="1"/>
              <a:t>filtre</a:t>
            </a:r>
            <a:r>
              <a:rPr dirty="0"/>
              <a:t> </a:t>
            </a:r>
            <a:r>
              <a:rPr dirty="0" err="1"/>
              <a:t>echip</a:t>
            </a:r>
            <a:r>
              <a:rPr lang="ro-RO" dirty="0"/>
              <a:t>ă</a:t>
            </a:r>
            <a:r>
              <a:rPr dirty="0"/>
              <a:t>/</a:t>
            </a:r>
            <a:r>
              <a:rPr lang="ro-RO" dirty="0"/>
              <a:t>ț</a:t>
            </a:r>
            <a:r>
              <a:rPr dirty="0" err="1"/>
              <a:t>ar</a:t>
            </a:r>
            <a:r>
              <a:rPr lang="ro-RO" dirty="0"/>
              <a:t>ă</a:t>
            </a:r>
            <a:r>
              <a:rPr dirty="0"/>
              <a:t>/</a:t>
            </a:r>
            <a:r>
              <a:rPr dirty="0" err="1"/>
              <a:t>rol</a:t>
            </a:r>
            <a:r>
              <a:rPr dirty="0"/>
              <a:t> + </a:t>
            </a:r>
            <a:r>
              <a:rPr dirty="0" err="1"/>
              <a:t>statistici</a:t>
            </a: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A0A0B0"/>
                </a:solidFill>
                <a:latin typeface="Segoe UI"/>
              </a:defRPr>
            </a:pPr>
            <a:r>
              <a:rPr dirty="0"/>
              <a:t>Tournaments: </a:t>
            </a:r>
            <a:r>
              <a:rPr dirty="0" err="1"/>
              <a:t>clasamente</a:t>
            </a:r>
            <a:r>
              <a:rPr dirty="0"/>
              <a:t> + bracket playoff</a:t>
            </a:r>
          </a:p>
          <a:p>
            <a:pPr>
              <a:spcAft>
                <a:spcPts val="1000"/>
              </a:spcAft>
              <a:defRPr sz="1400">
                <a:solidFill>
                  <a:srgbClr val="A0A0B0"/>
                </a:solidFill>
                <a:latin typeface="Segoe UI"/>
              </a:defRPr>
            </a:pPr>
            <a:r>
              <a:rPr dirty="0"/>
              <a:t>Matches: </a:t>
            </a:r>
            <a:r>
              <a:rPr dirty="0" err="1"/>
              <a:t>detalii</a:t>
            </a:r>
            <a:r>
              <a:rPr dirty="0"/>
              <a:t> </a:t>
            </a:r>
            <a:r>
              <a:rPr dirty="0" err="1"/>
              <a:t>expandabile</a:t>
            </a:r>
            <a:r>
              <a:rPr dirty="0"/>
              <a:t> per </a:t>
            </a:r>
            <a:r>
              <a:rPr dirty="0" err="1"/>
              <a:t>joc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4404207" y="1371600"/>
            <a:ext cx="3383280" cy="48463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87087" y="1508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7C3AED"/>
                </a:solidFill>
                <a:latin typeface="Segoe UI"/>
              </a:defRPr>
            </a:pPr>
            <a:r>
              <a:t>Autentificare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35727" y="2011680"/>
            <a:ext cx="1920240" cy="508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2807" y="2286000"/>
            <a:ext cx="2926080" cy="1897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A0A0B0"/>
                </a:solidFill>
                <a:latin typeface="Segoe UI"/>
              </a:defRPr>
            </a:pPr>
            <a:r>
              <a:rPr dirty="0"/>
              <a:t>Register / Login cu </a:t>
            </a:r>
            <a:r>
              <a:rPr dirty="0" err="1"/>
              <a:t>JWT</a:t>
            </a:r>
            <a:r>
              <a:rPr dirty="0"/>
              <a:t> tokens</a:t>
            </a:r>
          </a:p>
          <a:p>
            <a:pPr>
              <a:spcAft>
                <a:spcPts val="1000"/>
              </a:spcAft>
              <a:defRPr sz="1400">
                <a:solidFill>
                  <a:srgbClr val="A0A0B0"/>
                </a:solidFill>
                <a:latin typeface="Segoe UI"/>
              </a:defRPr>
            </a:pPr>
            <a:r>
              <a:rPr dirty="0"/>
              <a:t>Refresh automat via interceptor </a:t>
            </a:r>
            <a:r>
              <a:rPr dirty="0" err="1"/>
              <a:t>Axios</a:t>
            </a: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A0A0B0"/>
                </a:solidFill>
                <a:latin typeface="Segoe UI"/>
              </a:defRPr>
            </a:pPr>
            <a:r>
              <a:rPr dirty="0" err="1"/>
              <a:t>Profil</a:t>
            </a:r>
            <a:r>
              <a:rPr dirty="0"/>
              <a:t> cu </a:t>
            </a:r>
            <a:r>
              <a:rPr dirty="0" err="1"/>
              <a:t>gestionare</a:t>
            </a:r>
            <a:r>
              <a:rPr dirty="0"/>
              <a:t> favorite</a:t>
            </a:r>
          </a:p>
          <a:p>
            <a:pPr>
              <a:spcAft>
                <a:spcPts val="1000"/>
              </a:spcAft>
              <a:defRPr sz="1400">
                <a:solidFill>
                  <a:srgbClr val="A0A0B0"/>
                </a:solidFill>
                <a:latin typeface="Segoe UI"/>
              </a:defRPr>
            </a:pPr>
            <a:r>
              <a:rPr dirty="0"/>
              <a:t>Delete account (</a:t>
            </a:r>
            <a:r>
              <a:rPr dirty="0" err="1"/>
              <a:t>confirmare</a:t>
            </a:r>
            <a:r>
              <a:rPr dirty="0"/>
              <a:t> 2 pa</a:t>
            </a:r>
            <a:r>
              <a:rPr lang="ro-RO" dirty="0"/>
              <a:t>ș</a:t>
            </a:r>
            <a:r>
              <a:rPr dirty="0" err="1"/>
              <a:t>i</a:t>
            </a:r>
            <a:r>
              <a:rPr dirty="0"/>
              <a:t>)</a:t>
            </a:r>
          </a:p>
          <a:p>
            <a:pPr>
              <a:spcAft>
                <a:spcPts val="1000"/>
              </a:spcAft>
              <a:defRPr sz="1400">
                <a:solidFill>
                  <a:srgbClr val="A0A0B0"/>
                </a:solidFill>
                <a:latin typeface="Segoe UI"/>
              </a:defRPr>
            </a:pPr>
            <a:r>
              <a:rPr dirty="0"/>
              <a:t>Protected routes (redirect /login)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1807" y="1371600"/>
            <a:ext cx="3383280" cy="48463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4687" y="1508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EC4899"/>
                </a:solidFill>
                <a:latin typeface="Segoe UI"/>
              </a:defRPr>
            </a:pPr>
            <a:r>
              <a:t>UX &amp;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93327" y="2011680"/>
            <a:ext cx="1920240" cy="508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0407" y="2286000"/>
            <a:ext cx="2926080" cy="2328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A0A0B0"/>
                </a:solidFill>
                <a:latin typeface="Segoe UI"/>
              </a:defRPr>
            </a:pPr>
            <a:r>
              <a:rPr dirty="0"/>
              <a:t>Responsive: desktop, tablet</a:t>
            </a:r>
            <a:r>
              <a:rPr lang="ro-RO" dirty="0"/>
              <a:t>ă</a:t>
            </a:r>
            <a:r>
              <a:rPr dirty="0"/>
              <a:t>,</a:t>
            </a:r>
            <a:r>
              <a:rPr lang="ro-RO" dirty="0"/>
              <a:t> smartphone</a:t>
            </a: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A0A0B0"/>
                </a:solidFill>
                <a:latin typeface="Segoe UI"/>
              </a:defRPr>
            </a:pPr>
            <a:r>
              <a:rPr dirty="0" err="1"/>
              <a:t>Tema</a:t>
            </a:r>
            <a:r>
              <a:rPr dirty="0"/>
              <a:t> dark (implicit) / light toggle</a:t>
            </a:r>
          </a:p>
          <a:p>
            <a:pPr>
              <a:spcAft>
                <a:spcPts val="1000"/>
              </a:spcAft>
              <a:defRPr sz="1400">
                <a:solidFill>
                  <a:srgbClr val="A0A0B0"/>
                </a:solidFill>
                <a:latin typeface="Segoe UI"/>
              </a:defRPr>
            </a:pPr>
            <a:r>
              <a:rPr dirty="0" err="1"/>
              <a:t>Naviga</a:t>
            </a:r>
            <a:r>
              <a:rPr lang="ro-RO" dirty="0"/>
              <a:t>ț</a:t>
            </a:r>
            <a:r>
              <a:rPr dirty="0" err="1"/>
              <a:t>ie</a:t>
            </a:r>
            <a:r>
              <a:rPr dirty="0"/>
              <a:t> cu hamburger menu pe </a:t>
            </a:r>
            <a:r>
              <a:rPr dirty="0" err="1"/>
              <a:t>mobil</a:t>
            </a: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A0A0B0"/>
                </a:solidFill>
                <a:latin typeface="Segoe UI"/>
              </a:defRPr>
            </a:pPr>
            <a:r>
              <a:rPr dirty="0"/>
              <a:t>Loading spinners, empty states, error alerts</a:t>
            </a:r>
          </a:p>
          <a:p>
            <a:pPr>
              <a:spcAft>
                <a:spcPts val="1000"/>
              </a:spcAft>
              <a:defRPr sz="1400">
                <a:solidFill>
                  <a:srgbClr val="A0A0B0"/>
                </a:solidFill>
                <a:latin typeface="Segoe UI"/>
              </a:defRPr>
            </a:pPr>
            <a:r>
              <a:rPr dirty="0"/>
              <a:t>Anima</a:t>
            </a:r>
            <a:r>
              <a:rPr lang="ro-RO" dirty="0"/>
              <a:t>ț</a:t>
            </a:r>
            <a:r>
              <a:rPr dirty="0"/>
              <a:t>ii CSS (fade-in, hover glow)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62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Concluzii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144000" cy="48463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54480" y="1463040"/>
            <a:ext cx="87782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06B6D4"/>
                </a:solidFill>
                <a:latin typeface="Segoe UI"/>
              </a:defRPr>
            </a:pPr>
            <a:r>
              <a:rPr dirty="0" err="1"/>
              <a:t>Reali</a:t>
            </a:r>
            <a:r>
              <a:rPr lang="ro-RO" dirty="0"/>
              <a:t>ză</a:t>
            </a:r>
            <a:r>
              <a:rPr dirty="0" err="1"/>
              <a:t>ri</a:t>
            </a:r>
            <a:r>
              <a:rPr dirty="0"/>
              <a:t> </a:t>
            </a:r>
            <a:r>
              <a:rPr lang="ro-RO" dirty="0"/>
              <a:t>ș</a:t>
            </a:r>
            <a:r>
              <a:rPr dirty="0" err="1"/>
              <a:t>i</a:t>
            </a:r>
            <a:r>
              <a:rPr dirty="0"/>
              <a:t> </a:t>
            </a:r>
            <a:r>
              <a:rPr lang="ro-RO" dirty="0"/>
              <a:t>c</a:t>
            </a:r>
            <a:r>
              <a:rPr dirty="0" err="1"/>
              <a:t>unostin</a:t>
            </a:r>
            <a:r>
              <a:rPr lang="ro-RO" dirty="0"/>
              <a:t>ț</a:t>
            </a:r>
            <a:r>
              <a:rPr dirty="0"/>
              <a:t>e </a:t>
            </a:r>
            <a:r>
              <a:rPr lang="ro-RO" dirty="0"/>
              <a:t>d</a:t>
            </a:r>
            <a:r>
              <a:rPr dirty="0" err="1"/>
              <a:t>ob</a:t>
            </a:r>
            <a:r>
              <a:rPr lang="ro-RO" dirty="0"/>
              <a:t>â</a:t>
            </a:r>
            <a:r>
              <a:rPr dirty="0" err="1"/>
              <a:t>ndite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4114800" y="2011680"/>
            <a:ext cx="365760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63927" y="2306320"/>
            <a:ext cx="7863840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A0A0B0"/>
                </a:solidFill>
                <a:latin typeface="Segoe UI"/>
              </a:defRPr>
            </a:pPr>
            <a:r>
              <a:rPr dirty="0" err="1"/>
              <a:t>Aplica</a:t>
            </a:r>
            <a:r>
              <a:rPr lang="ro-RO" dirty="0"/>
              <a:t>ț</a:t>
            </a:r>
            <a:r>
              <a:rPr dirty="0" err="1"/>
              <a:t>ie</a:t>
            </a:r>
            <a:r>
              <a:rPr dirty="0"/>
              <a:t> full-stack </a:t>
            </a:r>
            <a:r>
              <a:rPr dirty="0" err="1"/>
              <a:t>complet</a:t>
            </a:r>
            <a:r>
              <a:rPr lang="ro-RO" dirty="0"/>
              <a:t>ă</a:t>
            </a:r>
            <a:r>
              <a:rPr dirty="0"/>
              <a:t> (Django + React)</a:t>
            </a:r>
          </a:p>
          <a:p>
            <a:pPr>
              <a:spcAft>
                <a:spcPts val="1200"/>
              </a:spcAft>
              <a:defRPr sz="1600">
                <a:solidFill>
                  <a:srgbClr val="A0A0B0"/>
                </a:solidFill>
                <a:latin typeface="Segoe UI"/>
              </a:defRPr>
            </a:pPr>
            <a:r>
              <a:rPr dirty="0"/>
              <a:t>API REST cu </a:t>
            </a:r>
            <a:r>
              <a:rPr dirty="0" err="1"/>
              <a:t>autentificare</a:t>
            </a:r>
            <a:r>
              <a:rPr dirty="0"/>
              <a:t> </a:t>
            </a:r>
            <a:r>
              <a:rPr dirty="0" err="1"/>
              <a:t>JWT</a:t>
            </a:r>
            <a:r>
              <a:rPr dirty="0"/>
              <a:t> </a:t>
            </a:r>
            <a:r>
              <a:rPr dirty="0" err="1"/>
              <a:t>securizat</a:t>
            </a:r>
            <a:r>
              <a:rPr lang="ro-RO" dirty="0"/>
              <a:t>ă</a:t>
            </a:r>
            <a:endParaRPr dirty="0"/>
          </a:p>
          <a:p>
            <a:pPr>
              <a:spcAft>
                <a:spcPts val="1200"/>
              </a:spcAft>
              <a:defRPr sz="1600">
                <a:solidFill>
                  <a:srgbClr val="A0A0B0"/>
                </a:solidFill>
                <a:latin typeface="Segoe UI"/>
              </a:defRPr>
            </a:pPr>
            <a:r>
              <a:rPr dirty="0"/>
              <a:t>Pipeline automat cu </a:t>
            </a:r>
            <a:r>
              <a:rPr dirty="0" err="1"/>
              <a:t>integrare</a:t>
            </a:r>
            <a:r>
              <a:rPr dirty="0"/>
              <a:t> API extern</a:t>
            </a:r>
          </a:p>
          <a:p>
            <a:pPr>
              <a:spcAft>
                <a:spcPts val="1200"/>
              </a:spcAft>
              <a:defRPr sz="1600">
                <a:solidFill>
                  <a:srgbClr val="A0A0B0"/>
                </a:solidFill>
                <a:latin typeface="Segoe UI"/>
              </a:defRPr>
            </a:pPr>
            <a:r>
              <a:rPr dirty="0"/>
              <a:t>WebSocket </a:t>
            </a:r>
            <a:r>
              <a:rPr dirty="0" err="1"/>
              <a:t>pentru</a:t>
            </a:r>
            <a:r>
              <a:rPr dirty="0"/>
              <a:t> </a:t>
            </a:r>
            <a:r>
              <a:rPr dirty="0" err="1"/>
              <a:t>actualiz</a:t>
            </a:r>
            <a:r>
              <a:rPr lang="ro-RO" dirty="0"/>
              <a:t>ă</a:t>
            </a:r>
            <a:r>
              <a:rPr dirty="0" err="1"/>
              <a:t>ri</a:t>
            </a:r>
            <a:r>
              <a:rPr dirty="0"/>
              <a:t> </a:t>
            </a:r>
            <a:r>
              <a:rPr lang="ro-RO" dirty="0"/>
              <a:t>î</a:t>
            </a:r>
            <a:r>
              <a:rPr dirty="0"/>
              <a:t>n </a:t>
            </a:r>
            <a:r>
              <a:rPr dirty="0" err="1"/>
              <a:t>timp</a:t>
            </a:r>
            <a:r>
              <a:rPr dirty="0"/>
              <a:t> real</a:t>
            </a:r>
          </a:p>
          <a:p>
            <a:pPr>
              <a:spcAft>
                <a:spcPts val="1200"/>
              </a:spcAft>
              <a:defRPr sz="1600">
                <a:solidFill>
                  <a:srgbClr val="A0A0B0"/>
                </a:solidFill>
                <a:latin typeface="Segoe UI"/>
              </a:defRPr>
            </a:pPr>
            <a:r>
              <a:rPr dirty="0" err="1"/>
              <a:t>Sistem</a:t>
            </a:r>
            <a:r>
              <a:rPr dirty="0"/>
              <a:t> de </a:t>
            </a:r>
            <a:r>
              <a:rPr dirty="0" err="1"/>
              <a:t>notific</a:t>
            </a:r>
            <a:r>
              <a:rPr lang="ro-RO" dirty="0"/>
              <a:t>ă</a:t>
            </a:r>
            <a:r>
              <a:rPr dirty="0" err="1"/>
              <a:t>ri</a:t>
            </a:r>
            <a:r>
              <a:rPr dirty="0"/>
              <a:t> email cu </a:t>
            </a:r>
            <a:r>
              <a:rPr dirty="0" err="1"/>
              <a:t>prevenire</a:t>
            </a:r>
            <a:r>
              <a:rPr dirty="0"/>
              <a:t> </a:t>
            </a:r>
            <a:r>
              <a:rPr dirty="0" err="1"/>
              <a:t>duplicare</a:t>
            </a:r>
            <a:endParaRPr dirty="0"/>
          </a:p>
          <a:p>
            <a:pPr>
              <a:spcAft>
                <a:spcPts val="1200"/>
              </a:spcAft>
              <a:defRPr sz="1600">
                <a:solidFill>
                  <a:srgbClr val="A0A0B0"/>
                </a:solidFill>
                <a:latin typeface="Segoe UI"/>
              </a:defRPr>
            </a:pPr>
            <a:r>
              <a:rPr dirty="0" err="1"/>
              <a:t>Interfa</a:t>
            </a:r>
            <a:r>
              <a:rPr lang="ro-RO" dirty="0"/>
              <a:t>ț</a:t>
            </a:r>
            <a:r>
              <a:rPr dirty="0"/>
              <a:t>a responsive cu </a:t>
            </a:r>
            <a:r>
              <a:rPr dirty="0" err="1"/>
              <a:t>tem</a:t>
            </a:r>
            <a:r>
              <a:rPr lang="ro-RO" dirty="0"/>
              <a:t>ă</a:t>
            </a:r>
            <a:r>
              <a:rPr dirty="0"/>
              <a:t> dark/light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6400800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C3AED"/>
                </a:solidFill>
                <a:latin typeface="Segoe UI"/>
              </a:defRPr>
            </a:pPr>
            <a:r>
              <a:rPr dirty="0"/>
              <a:t>V</a:t>
            </a:r>
            <a:r>
              <a:rPr lang="ro-RO" dirty="0"/>
              <a:t>ă</a:t>
            </a:r>
            <a:r>
              <a:rPr dirty="0"/>
              <a:t> </a:t>
            </a:r>
            <a:r>
              <a:rPr dirty="0" err="1"/>
              <a:t>mul</a:t>
            </a:r>
            <a:r>
              <a:rPr lang="ro-RO"/>
              <a:t>ț</a:t>
            </a:r>
            <a:r>
              <a:t>umesc</a:t>
            </a:r>
            <a:r>
              <a:rPr dirty="0"/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821</Words>
  <Application>Microsoft Office PowerPoint</Application>
  <PresentationFormat>Widescreen</PresentationFormat>
  <Paragraphs>125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Mario</cp:lastModifiedBy>
  <cp:revision>4</cp:revision>
  <dcterms:created xsi:type="dcterms:W3CDTF">2013-01-27T09:14:16Z</dcterms:created>
  <dcterms:modified xsi:type="dcterms:W3CDTF">2026-02-16T15:24:45Z</dcterms:modified>
  <cp:category/>
</cp:coreProperties>
</file>