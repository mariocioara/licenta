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7" d="100"/>
          <a:sy n="107" d="100"/>
        </p:scale>
        <p:origin x="714" y="10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AEB2717-8C09-4C26-95C6-4F241FCD9561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6E160C-68EC-40FF-BB6E-AB0749D34F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59253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6E160C-68EC-40FF-BB6E-AB0749D34F34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87619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762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523847" y="724411"/>
            <a:ext cx="914400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06B6D4"/>
                </a:solidFill>
                <a:latin typeface="Segoe UI"/>
              </a:defRPr>
            </a:pPr>
            <a:r>
              <a:rPr sz="6600" dirty="0">
                <a:latin typeface="Arial" panose="020B0604020202020204" pitchFamily="34" charset="0"/>
                <a:cs typeface="Arial" panose="020B0604020202020204" pitchFamily="34" charset="0"/>
              </a:rPr>
              <a:t>RIFT PULSE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717524"/>
            <a:ext cx="914400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A0A0B0"/>
                </a:solidFill>
                <a:latin typeface="Segoe UI"/>
              </a:defRPr>
            </a:pPr>
            <a:r>
              <a:rPr lang="ro-RO" sz="4000" dirty="0">
                <a:latin typeface="Arial" panose="020B0604020202020204" pitchFamily="34" charset="0"/>
                <a:cs typeface="Arial" panose="020B0604020202020204" pitchFamily="34" charset="0"/>
              </a:rPr>
              <a:t>Aplicație web pentru pasionații de League of Legends esports</a:t>
            </a:r>
            <a:endParaRPr sz="4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23847" y="3227623"/>
            <a:ext cx="9144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Segoe UI"/>
              </a:defRPr>
            </a:pPr>
            <a:r>
              <a:rPr sz="2800" dirty="0" err="1">
                <a:latin typeface="Arial" panose="020B0604020202020204" pitchFamily="34" charset="0"/>
                <a:cs typeface="Arial" panose="020B0604020202020204" pitchFamily="34" charset="0"/>
              </a:rPr>
              <a:t>Lucrare</a:t>
            </a:r>
            <a:r>
              <a:rPr sz="2800" dirty="0">
                <a:latin typeface="Arial" panose="020B0604020202020204" pitchFamily="34" charset="0"/>
                <a:cs typeface="Arial" panose="020B0604020202020204" pitchFamily="34" charset="0"/>
              </a:rPr>
              <a:t> de Lice</a:t>
            </a:r>
            <a:r>
              <a:rPr lang="ro-RO" sz="2800" dirty="0">
                <a:latin typeface="Arial" panose="020B0604020202020204" pitchFamily="34" charset="0"/>
                <a:cs typeface="Arial" panose="020B0604020202020204" pitchFamily="34" charset="0"/>
              </a:rPr>
              <a:t>nță</a:t>
            </a:r>
            <a:endParaRPr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523847" y="3963920"/>
            <a:ext cx="9144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08099"/>
                </a:solidFill>
                <a:latin typeface="Segoe UI"/>
              </a:defRPr>
            </a:pP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Universitatea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Politehnica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Timi</a:t>
            </a:r>
            <a:r>
              <a:rPr lang="ro-RO" sz="2000" dirty="0">
                <a:latin typeface="Arial" panose="020B0604020202020204" pitchFamily="34" charset="0"/>
                <a:cs typeface="Arial" panose="020B0604020202020204" pitchFamily="34" charset="0"/>
              </a:rPr>
              <a:t>ș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oara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 | 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Facultatea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de Automatic</a:t>
            </a:r>
            <a:r>
              <a:rPr lang="ro-RO" sz="2000" dirty="0">
                <a:latin typeface="Arial" panose="020B0604020202020204" pitchFamily="34" charset="0"/>
                <a:cs typeface="Arial" panose="020B0604020202020204" pitchFamily="34" charset="0"/>
              </a:rPr>
              <a:t>ă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o-RO" sz="2000" dirty="0">
                <a:latin typeface="Arial" panose="020B0604020202020204" pitchFamily="34" charset="0"/>
                <a:cs typeface="Arial" panose="020B0604020202020204" pitchFamily="34" charset="0"/>
              </a:rPr>
              <a:t>ș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Calculatoare</a:t>
            </a:r>
            <a:endParaRPr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098021" y="4625484"/>
            <a:ext cx="999564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A0A0B0"/>
                </a:solidFill>
                <a:latin typeface="Segoe UI"/>
              </a:defRPr>
            </a:pPr>
            <a:r>
              <a:rPr lang="ro-RO" sz="2000" dirty="0">
                <a:latin typeface="Arial" panose="020B0604020202020204" pitchFamily="34" charset="0"/>
                <a:cs typeface="Arial" panose="020B0604020202020204" pitchFamily="34" charset="0"/>
              </a:rPr>
              <a:t>Candidat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: Cioara Mario R</a:t>
            </a:r>
            <a:r>
              <a:rPr lang="ro-RO" sz="2000" dirty="0">
                <a:latin typeface="Arial" panose="020B0604020202020204" pitchFamily="34" charset="0"/>
                <a:cs typeface="Arial" panose="020B0604020202020204" pitchFamily="34" charset="0"/>
              </a:rPr>
              <a:t>ă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zvan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        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Coordonator</a:t>
            </a:r>
            <a:r>
              <a:rPr lang="ro-RO" sz="2000" dirty="0">
                <a:latin typeface="Arial" panose="020B0604020202020204" pitchFamily="34" charset="0"/>
                <a:cs typeface="Arial" panose="020B0604020202020204" pitchFamily="34" charset="0"/>
              </a:rPr>
              <a:t> științific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: Adriana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Albu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-H</a:t>
            </a:r>
            <a:r>
              <a:rPr lang="ro-RO" sz="2000" dirty="0">
                <a:latin typeface="Arial" panose="020B0604020202020204" pitchFamily="34" charset="0"/>
                <a:cs typeface="Arial" panose="020B0604020202020204" pitchFamily="34" charset="0"/>
              </a:rPr>
              <a:t>ă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r</a:t>
            </a:r>
            <a:r>
              <a:rPr lang="ro-RO" sz="2000" dirty="0">
                <a:latin typeface="Arial" panose="020B0604020202020204" pitchFamily="34" charset="0"/>
                <a:cs typeface="Arial" panose="020B0604020202020204" pitchFamily="34" charset="0"/>
              </a:rPr>
              <a:t>ș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ian</a:t>
            </a:r>
            <a:endParaRPr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523845" y="5238762"/>
            <a:ext cx="9144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08099"/>
                </a:solidFill>
                <a:latin typeface="Segoe UI"/>
              </a:defRPr>
            </a:pPr>
            <a:r>
              <a:rPr lang="ro-RO" sz="2000" dirty="0">
                <a:latin typeface="Arial" panose="020B0604020202020204" pitchFamily="34" charset="0"/>
                <a:cs typeface="Arial" panose="020B0604020202020204" pitchFamily="34" charset="0"/>
              </a:rPr>
              <a:t>Sesiunea: Februarie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762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Segoe UI"/>
              </a:defRPr>
            </a:pP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Contextul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o-RO" dirty="0">
                <a:latin typeface="Arial" panose="020B0604020202020204" pitchFamily="34" charset="0"/>
                <a:cs typeface="Arial" panose="020B0604020202020204" pitchFamily="34" charset="0"/>
              </a:rPr>
              <a:t>ș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o-RO" dirty="0">
                <a:latin typeface="Arial" panose="020B0604020202020204" pitchFamily="34" charset="0"/>
                <a:cs typeface="Arial" panose="020B0604020202020204" pitchFamily="34" charset="0"/>
              </a:rPr>
              <a:t>p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roblema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2743200" cy="508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120640" cy="4846320"/>
          </a:xfrm>
          <a:prstGeom prst="roundRect">
            <a:avLst/>
          </a:prstGeom>
          <a:solidFill>
            <a:srgbClr val="1A1A2E"/>
          </a:solidFill>
          <a:ln w="1905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04453" y="1475125"/>
            <a:ext cx="493776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6B6D4"/>
                </a:solidFill>
                <a:latin typeface="Segoe UI"/>
              </a:defRPr>
            </a:pPr>
            <a:r>
              <a:rPr sz="2400" dirty="0" err="1">
                <a:latin typeface="Arial" panose="020B0604020202020204" pitchFamily="34" charset="0"/>
                <a:cs typeface="Arial" panose="020B0604020202020204" pitchFamily="34" charset="0"/>
              </a:rPr>
              <a:t>Esportul</a:t>
            </a: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 League of</a:t>
            </a:r>
            <a:r>
              <a:rPr lang="ro-RO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Legends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3920" y="2169140"/>
            <a:ext cx="4572000" cy="33547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A0A0B0"/>
                </a:solidFill>
                <a:latin typeface="Segoe UI"/>
              </a:defRPr>
            </a:pPr>
            <a:r>
              <a:rPr lang="ro-RO" sz="2400" dirty="0"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400" dirty="0" err="1">
                <a:latin typeface="Arial" panose="020B0604020202020204" pitchFamily="34" charset="0"/>
                <a:cs typeface="Arial" panose="020B0604020202020204" pitchFamily="34" charset="0"/>
              </a:rPr>
              <a:t>regiuni</a:t>
            </a: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400" dirty="0" err="1">
                <a:latin typeface="Arial" panose="020B0604020202020204" pitchFamily="34" charset="0"/>
                <a:cs typeface="Arial" panose="020B0604020202020204" pitchFamily="34" charset="0"/>
              </a:rPr>
              <a:t>majore</a:t>
            </a: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sz="2400" dirty="0" err="1">
                <a:latin typeface="Arial" panose="020B0604020202020204" pitchFamily="34" charset="0"/>
                <a:cs typeface="Arial" panose="020B0604020202020204" pitchFamily="34" charset="0"/>
              </a:rPr>
              <a:t>LCK</a:t>
            </a: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sz="2400" dirty="0" err="1">
                <a:latin typeface="Arial" panose="020B0604020202020204" pitchFamily="34" charset="0"/>
                <a:cs typeface="Arial" panose="020B0604020202020204" pitchFamily="34" charset="0"/>
              </a:rPr>
              <a:t>LEC</a:t>
            </a: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, LPL, LCS </a:t>
            </a:r>
            <a:r>
              <a:rPr lang="ro-RO" sz="2400" dirty="0">
                <a:latin typeface="Arial" panose="020B0604020202020204" pitchFamily="34" charset="0"/>
                <a:cs typeface="Arial" panose="020B0604020202020204" pitchFamily="34" charset="0"/>
              </a:rPr>
              <a:t>și</a:t>
            </a: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 APAC</a:t>
            </a:r>
          </a:p>
          <a:p>
            <a:pPr>
              <a:spcAft>
                <a:spcPts val="800"/>
              </a:spcAft>
              <a:defRPr sz="1600">
                <a:solidFill>
                  <a:srgbClr val="A0A0B0"/>
                </a:solidFill>
                <a:latin typeface="Segoe UI"/>
              </a:defRPr>
            </a:pPr>
            <a:r>
              <a:rPr sz="2400" dirty="0" err="1">
                <a:latin typeface="Arial" panose="020B0604020202020204" pitchFamily="34" charset="0"/>
                <a:cs typeface="Arial" panose="020B0604020202020204" pitchFamily="34" charset="0"/>
              </a:rPr>
              <a:t>Milioane</a:t>
            </a: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sz="2400" dirty="0" err="1">
                <a:latin typeface="Arial" panose="020B0604020202020204" pitchFamily="34" charset="0"/>
                <a:cs typeface="Arial" panose="020B0604020202020204" pitchFamily="34" charset="0"/>
              </a:rPr>
              <a:t>spectatori</a:t>
            </a: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 la </a:t>
            </a:r>
            <a:r>
              <a:rPr sz="2400" dirty="0" err="1">
                <a:latin typeface="Arial" panose="020B0604020202020204" pitchFamily="34" charset="0"/>
                <a:cs typeface="Arial" panose="020B0604020202020204" pitchFamily="34" charset="0"/>
              </a:rPr>
              <a:t>nivel</a:t>
            </a: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 global</a:t>
            </a:r>
          </a:p>
          <a:p>
            <a:pPr>
              <a:spcAft>
                <a:spcPts val="800"/>
              </a:spcAft>
              <a:defRPr sz="1600">
                <a:solidFill>
                  <a:srgbClr val="A0A0B0"/>
                </a:solidFill>
                <a:latin typeface="Segoe UI"/>
              </a:defRPr>
            </a:pPr>
            <a:r>
              <a:rPr lang="ro-RO" sz="2400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 split-</a:t>
            </a:r>
            <a:r>
              <a:rPr sz="2400" dirty="0" err="1">
                <a:latin typeface="Arial" panose="020B0604020202020204" pitchFamily="34" charset="0"/>
                <a:cs typeface="Arial" panose="020B0604020202020204" pitchFamily="34" charset="0"/>
              </a:rPr>
              <a:t>uri</a:t>
            </a:r>
            <a:r>
              <a:rPr lang="ro-RO" sz="2400" dirty="0">
                <a:latin typeface="Arial" panose="020B0604020202020204" pitchFamily="34" charset="0"/>
                <a:cs typeface="Arial" panose="020B0604020202020204" pitchFamily="34" charset="0"/>
              </a:rPr>
              <a:t>(tururi)</a:t>
            </a: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/an + </a:t>
            </a:r>
            <a:r>
              <a:rPr lang="ro-RO" sz="2400" dirty="0">
                <a:latin typeface="Arial" panose="020B0604020202020204" pitchFamily="34" charset="0"/>
                <a:cs typeface="Arial" panose="020B0604020202020204" pitchFamily="34" charset="0"/>
              </a:rPr>
              <a:t>3 </a:t>
            </a:r>
            <a:r>
              <a:rPr sz="2400" dirty="0" err="1">
                <a:latin typeface="Arial" panose="020B0604020202020204" pitchFamily="34" charset="0"/>
                <a:cs typeface="Arial" panose="020B0604020202020204" pitchFamily="34" charset="0"/>
              </a:rPr>
              <a:t>turnee</a:t>
            </a: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o-RO" sz="2400" dirty="0">
                <a:latin typeface="Arial" panose="020B0604020202020204" pitchFamily="34" charset="0"/>
                <a:cs typeface="Arial" panose="020B0604020202020204" pitchFamily="34" charset="0"/>
              </a:rPr>
              <a:t>internaționale</a:t>
            </a:r>
            <a:endParaRPr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Aft>
                <a:spcPts val="800"/>
              </a:spcAft>
              <a:defRPr sz="1600">
                <a:solidFill>
                  <a:srgbClr val="A0A0B0"/>
                </a:solidFill>
                <a:latin typeface="Segoe UI"/>
              </a:defRPr>
            </a:pPr>
            <a:r>
              <a:rPr sz="2400" dirty="0" err="1">
                <a:latin typeface="Arial" panose="020B0604020202020204" pitchFamily="34" charset="0"/>
                <a:cs typeface="Arial" panose="020B0604020202020204" pitchFamily="34" charset="0"/>
              </a:rPr>
              <a:t>Zeci</a:t>
            </a: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sz="2400" dirty="0" err="1">
                <a:latin typeface="Arial" panose="020B0604020202020204" pitchFamily="34" charset="0"/>
                <a:cs typeface="Arial" panose="020B0604020202020204" pitchFamily="34" charset="0"/>
              </a:rPr>
              <a:t>echipe</a:t>
            </a: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sz="2400" dirty="0" err="1">
                <a:latin typeface="Arial" panose="020B0604020202020204" pitchFamily="34" charset="0"/>
                <a:cs typeface="Arial" panose="020B0604020202020204" pitchFamily="34" charset="0"/>
              </a:rPr>
              <a:t>sute</a:t>
            </a: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sz="2400" dirty="0" err="1">
                <a:latin typeface="Arial" panose="020B0604020202020204" pitchFamily="34" charset="0"/>
                <a:cs typeface="Arial" panose="020B0604020202020204" pitchFamily="34" charset="0"/>
              </a:rPr>
              <a:t>jucatori</a:t>
            </a: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, mii de </a:t>
            </a:r>
            <a:r>
              <a:rPr sz="2400" dirty="0" err="1">
                <a:latin typeface="Arial" panose="020B0604020202020204" pitchFamily="34" charset="0"/>
                <a:cs typeface="Arial" panose="020B0604020202020204" pitchFamily="34" charset="0"/>
              </a:rPr>
              <a:t>meciuri</a:t>
            </a:r>
            <a:endParaRPr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309360" y="1371600"/>
            <a:ext cx="5120640" cy="4846320"/>
          </a:xfrm>
          <a:prstGeom prst="roundRect">
            <a:avLst/>
          </a:prstGeom>
          <a:solidFill>
            <a:srgbClr val="1A1A2E"/>
          </a:solidFill>
          <a:ln w="19050">
            <a:solidFill>
              <a:srgbClr val="EC48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019366" y="1460808"/>
            <a:ext cx="4572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C4899"/>
                </a:solidFill>
                <a:latin typeface="Segoe UI"/>
              </a:defRPr>
            </a:pPr>
            <a:r>
              <a:rPr lang="ro-RO" dirty="0"/>
              <a:t>	</a:t>
            </a:r>
            <a:r>
              <a:rPr sz="2400" dirty="0" err="1">
                <a:latin typeface="Arial" panose="020B0604020202020204" pitchFamily="34" charset="0"/>
                <a:cs typeface="Arial" panose="020B0604020202020204" pitchFamily="34" charset="0"/>
              </a:rPr>
              <a:t>Problema</a:t>
            </a: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400" dirty="0" err="1">
                <a:latin typeface="Arial" panose="020B0604020202020204" pitchFamily="34" charset="0"/>
                <a:cs typeface="Arial" panose="020B0604020202020204" pitchFamily="34" charset="0"/>
              </a:rPr>
              <a:t>identificat</a:t>
            </a:r>
            <a:r>
              <a:rPr lang="ro-RO" sz="2400" dirty="0">
                <a:latin typeface="Arial" panose="020B0604020202020204" pitchFamily="34" charset="0"/>
                <a:cs typeface="Arial" panose="020B0604020202020204" pitchFamily="34" charset="0"/>
              </a:rPr>
              <a:t>ă</a:t>
            </a:r>
            <a:endParaRPr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583680" y="2011680"/>
            <a:ext cx="4572000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A0A0B0"/>
                </a:solidFill>
                <a:latin typeface="Segoe UI"/>
              </a:defRPr>
            </a:pP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Date fragmentate pe multiple </a:t>
            </a:r>
            <a:r>
              <a:rPr sz="2400" dirty="0" err="1">
                <a:latin typeface="Arial" panose="020B0604020202020204" pitchFamily="34" charset="0"/>
                <a:cs typeface="Arial" panose="020B0604020202020204" pitchFamily="34" charset="0"/>
              </a:rPr>
              <a:t>platforme</a:t>
            </a:r>
            <a:endParaRPr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Aft>
                <a:spcPts val="800"/>
              </a:spcAft>
              <a:defRPr sz="1600">
                <a:solidFill>
                  <a:srgbClr val="A0A0B0"/>
                </a:solidFill>
                <a:latin typeface="Segoe UI"/>
              </a:defRPr>
            </a:pPr>
            <a:r>
              <a:rPr sz="2400" dirty="0" err="1">
                <a:latin typeface="Arial" panose="020B0604020202020204" pitchFamily="34" charset="0"/>
                <a:cs typeface="Arial" panose="020B0604020202020204" pitchFamily="34" charset="0"/>
              </a:rPr>
              <a:t>lolesports.com</a:t>
            </a: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sz="2400" dirty="0" err="1">
                <a:latin typeface="Arial" panose="020B0604020202020204" pitchFamily="34" charset="0"/>
                <a:cs typeface="Arial" panose="020B0604020202020204" pitchFamily="34" charset="0"/>
              </a:rPr>
              <a:t>Liquipedia</a:t>
            </a: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, YouTube, site-</a:t>
            </a:r>
            <a:r>
              <a:rPr sz="2400" dirty="0" err="1">
                <a:latin typeface="Arial" panose="020B0604020202020204" pitchFamily="34" charset="0"/>
                <a:cs typeface="Arial" panose="020B0604020202020204" pitchFamily="34" charset="0"/>
              </a:rPr>
              <a:t>uri</a:t>
            </a:r>
            <a:r>
              <a:rPr lang="ro-RO" sz="2400" dirty="0">
                <a:latin typeface="Arial" panose="020B0604020202020204" pitchFamily="34" charset="0"/>
                <a:cs typeface="Arial" panose="020B0604020202020204" pitchFamily="34" charset="0"/>
              </a:rPr>
              <a:t> de</a:t>
            </a: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400" dirty="0" err="1">
                <a:latin typeface="Arial" panose="020B0604020202020204" pitchFamily="34" charset="0"/>
                <a:cs typeface="Arial" panose="020B0604020202020204" pitchFamily="34" charset="0"/>
              </a:rPr>
              <a:t>statistici</a:t>
            </a:r>
            <a:r>
              <a:rPr lang="ro-RO" sz="2400" dirty="0">
                <a:latin typeface="Arial" panose="020B0604020202020204" pitchFamily="34" charset="0"/>
                <a:cs typeface="Arial" panose="020B0604020202020204" pitchFamily="34" charset="0"/>
              </a:rPr>
              <a:t>(gol.gg)</a:t>
            </a:r>
            <a:endParaRPr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Aft>
                <a:spcPts val="800"/>
              </a:spcAft>
              <a:defRPr sz="1600">
                <a:solidFill>
                  <a:srgbClr val="A0A0B0"/>
                </a:solidFill>
                <a:latin typeface="Segoe UI"/>
              </a:defRPr>
            </a:pPr>
            <a:r>
              <a:rPr sz="2400" dirty="0" err="1">
                <a:latin typeface="Arial" panose="020B0604020202020204" pitchFamily="34" charset="0"/>
                <a:cs typeface="Arial" panose="020B0604020202020204" pitchFamily="34" charset="0"/>
              </a:rPr>
              <a:t>Nicio</a:t>
            </a: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 platform</a:t>
            </a:r>
            <a:r>
              <a:rPr lang="ro-RO" sz="2400" dirty="0">
                <a:latin typeface="Arial" panose="020B0604020202020204" pitchFamily="34" charset="0"/>
                <a:cs typeface="Arial" panose="020B0604020202020204" pitchFamily="34" charset="0"/>
              </a:rPr>
              <a:t>ă</a:t>
            </a: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400" dirty="0" err="1">
                <a:latin typeface="Arial" panose="020B0604020202020204" pitchFamily="34" charset="0"/>
                <a:cs typeface="Arial" panose="020B0604020202020204" pitchFamily="34" charset="0"/>
              </a:rPr>
              <a:t>centralizat</a:t>
            </a:r>
            <a:r>
              <a:rPr lang="ro-RO" sz="2400" dirty="0">
                <a:latin typeface="Arial" panose="020B0604020202020204" pitchFamily="34" charset="0"/>
                <a:cs typeface="Arial" panose="020B0604020202020204" pitchFamily="34" charset="0"/>
              </a:rPr>
              <a:t>ă</a:t>
            </a: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 cu date </a:t>
            </a:r>
            <a:r>
              <a:rPr sz="2400" dirty="0" err="1">
                <a:latin typeface="Arial" panose="020B0604020202020204" pitchFamily="34" charset="0"/>
                <a:cs typeface="Arial" panose="020B0604020202020204" pitchFamily="34" charset="0"/>
              </a:rPr>
              <a:t>actualizate</a:t>
            </a:r>
            <a:endParaRPr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Aft>
                <a:spcPts val="800"/>
              </a:spcAft>
              <a:defRPr sz="1600">
                <a:solidFill>
                  <a:srgbClr val="A0A0B0"/>
                </a:solidFill>
                <a:latin typeface="Segoe UI"/>
              </a:defRPr>
            </a:pPr>
            <a:r>
              <a:rPr sz="2400" dirty="0" err="1">
                <a:latin typeface="Arial" panose="020B0604020202020204" pitchFamily="34" charset="0"/>
                <a:cs typeface="Arial" panose="020B0604020202020204" pitchFamily="34" charset="0"/>
              </a:rPr>
              <a:t>Lipsesc</a:t>
            </a: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400" dirty="0" err="1">
                <a:latin typeface="Arial" panose="020B0604020202020204" pitchFamily="34" charset="0"/>
                <a:cs typeface="Arial" panose="020B0604020202020204" pitchFamily="34" charset="0"/>
              </a:rPr>
              <a:t>func</a:t>
            </a:r>
            <a:r>
              <a:rPr lang="ro-RO" sz="2400" dirty="0">
                <a:latin typeface="Arial" panose="020B0604020202020204" pitchFamily="34" charset="0"/>
                <a:cs typeface="Arial" panose="020B0604020202020204" pitchFamily="34" charset="0"/>
              </a:rPr>
              <a:t>ț</a:t>
            </a:r>
            <a:r>
              <a:rPr sz="2400" dirty="0" err="1">
                <a:latin typeface="Arial" panose="020B0604020202020204" pitchFamily="34" charset="0"/>
                <a:cs typeface="Arial" panose="020B0604020202020204" pitchFamily="34" charset="0"/>
              </a:rPr>
              <a:t>ionalit</a:t>
            </a:r>
            <a:r>
              <a:rPr lang="ro-RO" sz="2400" dirty="0">
                <a:latin typeface="Arial" panose="020B0604020202020204" pitchFamily="34" charset="0"/>
                <a:cs typeface="Arial" panose="020B0604020202020204" pitchFamily="34" charset="0"/>
              </a:rPr>
              <a:t>ăț</a:t>
            </a:r>
            <a:r>
              <a:rPr sz="2400" dirty="0" err="1">
                <a:latin typeface="Arial" panose="020B0604020202020204" pitchFamily="34" charset="0"/>
                <a:cs typeface="Arial" panose="020B0604020202020204" pitchFamily="34" charset="0"/>
              </a:rPr>
              <a:t>ile</a:t>
            </a: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400" dirty="0" err="1">
                <a:latin typeface="Arial" panose="020B0604020202020204" pitchFamily="34" charset="0"/>
                <a:cs typeface="Arial" panose="020B0604020202020204" pitchFamily="34" charset="0"/>
              </a:rPr>
              <a:t>personalizate</a:t>
            </a: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 (favorite, </a:t>
            </a:r>
            <a:r>
              <a:rPr sz="2400" dirty="0" err="1">
                <a:latin typeface="Arial" panose="020B0604020202020204" pitchFamily="34" charset="0"/>
                <a:cs typeface="Arial" panose="020B0604020202020204" pitchFamily="34" charset="0"/>
              </a:rPr>
              <a:t>notific</a:t>
            </a:r>
            <a:r>
              <a:rPr lang="ro-RO" sz="2400" dirty="0">
                <a:latin typeface="Arial" panose="020B0604020202020204" pitchFamily="34" charset="0"/>
                <a:cs typeface="Arial" panose="020B0604020202020204" pitchFamily="34" charset="0"/>
              </a:rPr>
              <a:t>ă</a:t>
            </a:r>
            <a:r>
              <a:rPr sz="2400" dirty="0" err="1">
                <a:latin typeface="Arial" panose="020B0604020202020204" pitchFamily="34" charset="0"/>
                <a:cs typeface="Arial" panose="020B0604020202020204" pitchFamily="34" charset="0"/>
              </a:rPr>
              <a:t>ri</a:t>
            </a: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762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Segoe UI"/>
              </a:defRPr>
            </a:pP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Obiectivele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o-RO" dirty="0">
                <a:latin typeface="Arial" panose="020B0604020202020204" pitchFamily="34" charset="0"/>
                <a:cs typeface="Arial" panose="020B0604020202020204" pitchFamily="34" charset="0"/>
              </a:rPr>
              <a:t>p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roiectului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2743200" cy="508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09447" y="1463040"/>
            <a:ext cx="2011680" cy="4572000"/>
          </a:xfrm>
          <a:prstGeom prst="roundRect">
            <a:avLst/>
          </a:prstGeom>
          <a:solidFill>
            <a:srgbClr val="1A1A2E"/>
          </a:solidFill>
          <a:ln w="19050">
            <a:solidFill>
              <a:srgbClr val="06B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386687" y="1828800"/>
            <a:ext cx="457200" cy="45720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386687" y="184708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447" y="2336561"/>
            <a:ext cx="201168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Segoe UI"/>
              </a:defRPr>
            </a:pPr>
            <a:r>
              <a:rPr sz="2800" dirty="0" err="1">
                <a:latin typeface="Arial" panose="020B0604020202020204" pitchFamily="34" charset="0"/>
                <a:cs typeface="Arial" panose="020B0604020202020204" pitchFamily="34" charset="0"/>
              </a:rPr>
              <a:t>Agregarea</a:t>
            </a:r>
            <a:r>
              <a:rPr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800" dirty="0" err="1">
                <a:latin typeface="Arial" panose="020B0604020202020204" pitchFamily="34" charset="0"/>
                <a:cs typeface="Arial" panose="020B0604020202020204" pitchFamily="34" charset="0"/>
              </a:rPr>
              <a:t>datelor</a:t>
            </a:r>
            <a:endParaRPr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46607" y="3291840"/>
            <a:ext cx="1737360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A0A0B0"/>
                </a:solidFill>
                <a:latin typeface="Segoe UI"/>
              </a:defRPr>
            </a:pP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Echipe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juc</a:t>
            </a:r>
            <a:r>
              <a:rPr lang="ro-RO" sz="2000" dirty="0">
                <a:latin typeface="Arial" panose="020B0604020202020204" pitchFamily="34" charset="0"/>
                <a:cs typeface="Arial" panose="020B0604020202020204" pitchFamily="34" charset="0"/>
              </a:rPr>
              <a:t>ă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tori,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turnee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meciuri</a:t>
            </a:r>
            <a:b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cu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statistici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o-RO" sz="2000" dirty="0">
                <a:latin typeface="Arial" panose="020B0604020202020204" pitchFamily="34" charset="0"/>
                <a:cs typeface="Arial" panose="020B0604020202020204" pitchFamily="34" charset="0"/>
              </a:rPr>
              <a:t>ș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clasamente</a:t>
            </a:r>
            <a:endParaRPr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2849727" y="1463040"/>
            <a:ext cx="2011680" cy="4572000"/>
          </a:xfrm>
          <a:prstGeom prst="roundRect">
            <a:avLst/>
          </a:prstGeom>
          <a:solidFill>
            <a:srgbClr val="1A1A2E"/>
          </a:solidFill>
          <a:ln w="1905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3626967" y="1828800"/>
            <a:ext cx="457200" cy="4572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26967" y="184708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18307" y="2394614"/>
            <a:ext cx="187452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Segoe UI"/>
              </a:defRPr>
            </a:pPr>
            <a:r>
              <a:rPr sz="2400" dirty="0" err="1">
                <a:latin typeface="Arial" panose="020B0604020202020204" pitchFamily="34" charset="0"/>
                <a:cs typeface="Arial" panose="020B0604020202020204" pitchFamily="34" charset="0"/>
              </a:rPr>
              <a:t>Actualizare</a:t>
            </a: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 automat</a:t>
            </a:r>
            <a:r>
              <a:rPr lang="ro-RO" sz="2400" dirty="0">
                <a:latin typeface="Arial" panose="020B0604020202020204" pitchFamily="34" charset="0"/>
                <a:cs typeface="Arial" panose="020B0604020202020204" pitchFamily="34" charset="0"/>
              </a:rPr>
              <a:t>ă</a:t>
            </a:r>
            <a:endParaRPr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2986887" y="3291840"/>
            <a:ext cx="1737360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A0A0B0"/>
                </a:solidFill>
                <a:latin typeface="Segoe UI"/>
              </a:defRPr>
            </a:pP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Pipeline care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interogheaz</a:t>
            </a:r>
            <a:r>
              <a:rPr lang="ro-RO" sz="2000" dirty="0">
                <a:latin typeface="Arial" panose="020B0604020202020204" pitchFamily="34" charset="0"/>
                <a:cs typeface="Arial" panose="020B0604020202020204" pitchFamily="34" charset="0"/>
              </a:rPr>
              <a:t>ă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API-ul</a:t>
            </a:r>
            <a:b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LoL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Esports la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intervale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regulate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90007" y="1463040"/>
            <a:ext cx="2011680" cy="4572000"/>
          </a:xfrm>
          <a:prstGeom prst="roundRect">
            <a:avLst/>
          </a:prstGeom>
          <a:solidFill>
            <a:srgbClr val="1A1A2E"/>
          </a:solidFill>
          <a:ln w="1905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5867247" y="1828800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867247" y="184708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98567" y="2396909"/>
            <a:ext cx="219456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Segoe UI"/>
              </a:defRPr>
            </a:pPr>
            <a:r>
              <a:rPr sz="2400" dirty="0" err="1">
                <a:latin typeface="Arial" panose="020B0604020202020204" pitchFamily="34" charset="0"/>
                <a:cs typeface="Arial" panose="020B0604020202020204" pitchFamily="34" charset="0"/>
              </a:rPr>
              <a:t>Personalizare</a:t>
            </a:r>
            <a:endParaRPr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5227167" y="3291840"/>
            <a:ext cx="1737360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A0A0B0"/>
                </a:solidFill>
                <a:latin typeface="Segoe UI"/>
              </a:defRPr>
            </a:pP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Conturi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utilizator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, favorite,</a:t>
            </a:r>
            <a:b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notific</a:t>
            </a:r>
            <a:r>
              <a:rPr lang="ro-RO" sz="2000" dirty="0">
                <a:latin typeface="Arial" panose="020B0604020202020204" pitchFamily="34" charset="0"/>
                <a:cs typeface="Arial" panose="020B0604020202020204" pitchFamily="34" charset="0"/>
              </a:rPr>
              <a:t>ă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ri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o-RO" sz="2000" dirty="0">
                <a:latin typeface="Arial" panose="020B0604020202020204" pitchFamily="34" charset="0"/>
                <a:cs typeface="Arial" panose="020B0604020202020204" pitchFamily="34" charset="0"/>
              </a:rPr>
              <a:t>prin 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email pre-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meci</a:t>
            </a:r>
            <a:endParaRPr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7330287" y="1463040"/>
            <a:ext cx="2011680" cy="4572000"/>
          </a:xfrm>
          <a:prstGeom prst="roundRect">
            <a:avLst/>
          </a:prstGeom>
          <a:solidFill>
            <a:srgbClr val="1A1A2E"/>
          </a:solidFill>
          <a:ln w="1905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8107527" y="1828800"/>
            <a:ext cx="457200" cy="457200"/>
          </a:xfrm>
          <a:prstGeom prst="ellipse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107527" y="184708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67447" y="2351594"/>
            <a:ext cx="173736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Segoe UI"/>
              </a:defRPr>
            </a:pPr>
            <a:r>
              <a:rPr sz="2400" dirty="0" err="1">
                <a:latin typeface="Arial" panose="020B0604020202020204" pitchFamily="34" charset="0"/>
                <a:cs typeface="Arial" panose="020B0604020202020204" pitchFamily="34" charset="0"/>
              </a:rPr>
              <a:t>Timp</a:t>
            </a: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 real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67447" y="3301426"/>
            <a:ext cx="1737360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A0A0B0"/>
                </a:solidFill>
                <a:latin typeface="Segoe UI"/>
              </a:defRPr>
            </a:pP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Broadcast WebSocket al</a:t>
            </a:r>
            <a:b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modific</a:t>
            </a:r>
            <a:r>
              <a:rPr lang="ro-RO" sz="2000" dirty="0">
                <a:latin typeface="Arial" panose="020B0604020202020204" pitchFamily="34" charset="0"/>
                <a:cs typeface="Arial" panose="020B0604020202020204" pitchFamily="34" charset="0"/>
              </a:rPr>
              <a:t>ă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rilor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scor</a:t>
            </a:r>
            <a:r>
              <a:rPr lang="ro-RO" sz="2000" dirty="0">
                <a:latin typeface="Arial" panose="020B0604020202020204" pitchFamily="34" charset="0"/>
                <a:cs typeface="Arial" panose="020B0604020202020204" pitchFamily="34" charset="0"/>
              </a:rPr>
              <a:t> și program</a:t>
            </a:r>
            <a:endParaRPr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9570567" y="1463040"/>
            <a:ext cx="2011680" cy="4572000"/>
          </a:xfrm>
          <a:prstGeom prst="roundRect">
            <a:avLst/>
          </a:prstGeom>
          <a:solidFill>
            <a:srgbClr val="1A1A2E"/>
          </a:solidFill>
          <a:ln w="19050">
            <a:solidFill>
              <a:srgbClr val="EC48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10347807" y="1828800"/>
            <a:ext cx="457200" cy="457200"/>
          </a:xfrm>
          <a:prstGeom prst="ellipse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347807" y="184708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07727" y="2318632"/>
            <a:ext cx="173736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Segoe UI"/>
              </a:defRPr>
            </a:pPr>
            <a:r>
              <a:rPr sz="2400" dirty="0" err="1">
                <a:latin typeface="Arial" panose="020B0604020202020204" pitchFamily="34" charset="0"/>
                <a:cs typeface="Arial" panose="020B0604020202020204" pitchFamily="34" charset="0"/>
              </a:rPr>
              <a:t>Interfa</a:t>
            </a:r>
            <a:r>
              <a:rPr lang="ro-RO" sz="2400" dirty="0">
                <a:latin typeface="Arial" panose="020B0604020202020204" pitchFamily="34" charset="0"/>
                <a:cs typeface="Arial" panose="020B0604020202020204" pitchFamily="34" charset="0"/>
              </a:rPr>
              <a:t>ță</a:t>
            </a: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 modern</a:t>
            </a:r>
            <a:r>
              <a:rPr lang="ro-RO" sz="2400" dirty="0">
                <a:latin typeface="Arial" panose="020B0604020202020204" pitchFamily="34" charset="0"/>
                <a:cs typeface="Arial" panose="020B0604020202020204" pitchFamily="34" charset="0"/>
              </a:rPr>
              <a:t>ă</a:t>
            </a:r>
            <a:endParaRPr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9707727" y="3291840"/>
            <a:ext cx="1737360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A0A0B0"/>
                </a:solidFill>
                <a:latin typeface="Segoe UI"/>
              </a:defRPr>
            </a:pP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Design responsive,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tema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dark/light,</a:t>
            </a:r>
            <a:b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cautare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global</a:t>
            </a:r>
            <a:r>
              <a:rPr lang="ro-RO" sz="2000" dirty="0">
                <a:latin typeface="Arial" panose="020B0604020202020204" pitchFamily="34" charset="0"/>
                <a:cs typeface="Arial" panose="020B0604020202020204" pitchFamily="34" charset="0"/>
              </a:rPr>
              <a:t>ă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filtre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avansate</a:t>
            </a:r>
            <a:endParaRPr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762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Segoe UI"/>
              </a:defRPr>
            </a:pP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Tehnologii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o-RO" dirty="0">
                <a:latin typeface="Arial" panose="020B0604020202020204" pitchFamily="34" charset="0"/>
                <a:cs typeface="Arial" panose="020B0604020202020204" pitchFamily="34" charset="0"/>
              </a:rPr>
              <a:t>u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tilizate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2743200" cy="508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0867" y="1371600"/>
            <a:ext cx="2606040" cy="4754880"/>
          </a:xfrm>
          <a:prstGeom prst="roundRect">
            <a:avLst/>
          </a:prstGeom>
          <a:solidFill>
            <a:srgbClr val="1A1A2E"/>
          </a:solidFill>
          <a:ln w="1905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23747" y="1508760"/>
            <a:ext cx="22402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900" b="1">
                <a:solidFill>
                  <a:srgbClr val="7C3AED"/>
                </a:solidFill>
                <a:latin typeface="Segoe UI"/>
              </a:defRPr>
            </a:pP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Backend</a:t>
            </a:r>
          </a:p>
        </p:txBody>
      </p:sp>
      <p:sp>
        <p:nvSpPr>
          <p:cNvPr id="7" name="Rectangle 6"/>
          <p:cNvSpPr/>
          <p:nvPr/>
        </p:nvSpPr>
        <p:spPr>
          <a:xfrm>
            <a:off x="1089507" y="2011680"/>
            <a:ext cx="1508760" cy="508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9467" y="2286000"/>
            <a:ext cx="2148840" cy="3683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A0A0B0"/>
                </a:solidFill>
                <a:latin typeface="Segoe UI"/>
              </a:defRPr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Python 3 + Django 5.2</a:t>
            </a:r>
          </a:p>
          <a:p>
            <a:pPr>
              <a:spcAft>
                <a:spcPts val="1000"/>
              </a:spcAft>
              <a:defRPr sz="1400">
                <a:solidFill>
                  <a:srgbClr val="A0A0B0"/>
                </a:solidFill>
                <a:latin typeface="Segoe UI"/>
              </a:defRPr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Django REST Framework</a:t>
            </a:r>
          </a:p>
          <a:p>
            <a:pPr>
              <a:spcAft>
                <a:spcPts val="1000"/>
              </a:spcAft>
              <a:defRPr sz="1400">
                <a:solidFill>
                  <a:srgbClr val="A0A0B0"/>
                </a:solidFill>
                <a:latin typeface="Segoe UI"/>
              </a:defRPr>
            </a:pP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SimpleJWT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autentificare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>
              <a:spcAft>
                <a:spcPts val="1000"/>
              </a:spcAft>
              <a:defRPr sz="1400">
                <a:solidFill>
                  <a:srgbClr val="A0A0B0"/>
                </a:solidFill>
                <a:latin typeface="Segoe UI"/>
              </a:defRPr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Django Channels (WebSocket)</a:t>
            </a:r>
          </a:p>
          <a:p>
            <a:pPr>
              <a:spcAft>
                <a:spcPts val="1000"/>
              </a:spcAft>
              <a:defRPr sz="1400">
                <a:solidFill>
                  <a:srgbClr val="A0A0B0"/>
                </a:solidFill>
                <a:latin typeface="Segoe UI"/>
              </a:defRPr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Django-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Q2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(task-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uri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periodice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75507" y="1371600"/>
            <a:ext cx="2606040" cy="4754880"/>
          </a:xfrm>
          <a:prstGeom prst="roundRect">
            <a:avLst/>
          </a:prstGeom>
          <a:solidFill>
            <a:srgbClr val="1A1A2E"/>
          </a:solidFill>
          <a:ln w="19050">
            <a:solidFill>
              <a:srgbClr val="06B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558387" y="1508760"/>
            <a:ext cx="22402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900" b="1">
                <a:solidFill>
                  <a:srgbClr val="06B6D4"/>
                </a:solidFill>
                <a:latin typeface="Segoe UI"/>
              </a:defRPr>
            </a:pPr>
            <a:r>
              <a:rPr sz="2400" dirty="0" err="1">
                <a:latin typeface="Arial" panose="020B0604020202020204" pitchFamily="34" charset="0"/>
                <a:cs typeface="Arial" panose="020B0604020202020204" pitchFamily="34" charset="0"/>
              </a:rPr>
              <a:t>Baza</a:t>
            </a: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 de date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24147" y="2011680"/>
            <a:ext cx="1508760" cy="508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04107" y="2286000"/>
            <a:ext cx="2148840" cy="27597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A0A0B0"/>
                </a:solidFill>
                <a:latin typeface="Segoe UI"/>
              </a:defRPr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PostgreSQL</a:t>
            </a:r>
          </a:p>
          <a:p>
            <a:pPr>
              <a:spcAft>
                <a:spcPts val="1000"/>
              </a:spcAft>
              <a:defRPr sz="1400">
                <a:solidFill>
                  <a:srgbClr val="A0A0B0"/>
                </a:solidFill>
                <a:latin typeface="Segoe UI"/>
              </a:defRPr>
            </a:pP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JSONField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nativ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Aft>
                <a:spcPts val="1000"/>
              </a:spcAft>
              <a:defRPr sz="1400">
                <a:solidFill>
                  <a:srgbClr val="A0A0B0"/>
                </a:solidFill>
                <a:latin typeface="Segoe UI"/>
              </a:defRPr>
            </a:pP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Constrangeri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unique (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upsert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>
              <a:spcAft>
                <a:spcPts val="1000"/>
              </a:spcAft>
              <a:defRPr sz="1400">
                <a:solidFill>
                  <a:srgbClr val="A0A0B0"/>
                </a:solidFill>
                <a:latin typeface="Segoe UI"/>
              </a:defRPr>
            </a:pP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Tranzacții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ACID</a:t>
            </a:r>
          </a:p>
          <a:p>
            <a:pPr>
              <a:spcAft>
                <a:spcPts val="1000"/>
              </a:spcAft>
              <a:defRPr sz="1400">
                <a:solidFill>
                  <a:srgbClr val="A0A0B0"/>
                </a:solidFill>
                <a:latin typeface="Segoe UI"/>
              </a:defRPr>
            </a:pP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ManyToManyField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(favorite)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0147" y="1371600"/>
            <a:ext cx="2606040" cy="4754880"/>
          </a:xfrm>
          <a:prstGeom prst="roundRect">
            <a:avLst/>
          </a:prstGeom>
          <a:solidFill>
            <a:srgbClr val="1A1A2E"/>
          </a:solidFill>
          <a:ln w="19050">
            <a:solidFill>
              <a:srgbClr val="EC48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93027" y="1508760"/>
            <a:ext cx="22402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900" b="1">
                <a:solidFill>
                  <a:srgbClr val="EC4899"/>
                </a:solidFill>
                <a:latin typeface="Segoe UI"/>
              </a:defRPr>
            </a:pP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Frontend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758787" y="2011680"/>
            <a:ext cx="1508760" cy="50800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38747" y="2286000"/>
            <a:ext cx="2148840" cy="3683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A0A0B0"/>
                </a:solidFill>
                <a:latin typeface="Segoe UI"/>
              </a:defRPr>
            </a:pP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React 19 (hooks, Context API)</a:t>
            </a:r>
          </a:p>
          <a:p>
            <a:pPr>
              <a:spcAft>
                <a:spcPts val="1000"/>
              </a:spcAft>
              <a:defRPr sz="1400">
                <a:solidFill>
                  <a:srgbClr val="A0A0B0"/>
                </a:solidFill>
                <a:latin typeface="Segoe UI"/>
              </a:defRPr>
            </a:pP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React Router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v7</a:t>
            </a:r>
            <a:endParaRPr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Aft>
                <a:spcPts val="1000"/>
              </a:spcAft>
              <a:defRPr sz="1400">
                <a:solidFill>
                  <a:srgbClr val="A0A0B0"/>
                </a:solidFill>
                <a:latin typeface="Segoe UI"/>
              </a:defRPr>
            </a:pP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Bootstrap 5 (responsive)</a:t>
            </a:r>
          </a:p>
          <a:p>
            <a:pPr>
              <a:spcAft>
                <a:spcPts val="1000"/>
              </a:spcAft>
              <a:defRPr sz="1400">
                <a:solidFill>
                  <a:srgbClr val="A0A0B0"/>
                </a:solidFill>
                <a:latin typeface="Segoe UI"/>
              </a:defRPr>
            </a:pP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Axios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interceptori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JWT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>
              <a:spcAft>
                <a:spcPts val="1000"/>
              </a:spcAft>
              <a:defRPr sz="1400">
                <a:solidFill>
                  <a:srgbClr val="A0A0B0"/>
                </a:solidFill>
                <a:latin typeface="Segoe UI"/>
              </a:defRPr>
            </a:pP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CSS custom (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teme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dark/light)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44787" y="1371600"/>
            <a:ext cx="2606040" cy="4754880"/>
          </a:xfrm>
          <a:prstGeom prst="roundRect">
            <a:avLst/>
          </a:prstGeom>
          <a:solidFill>
            <a:srgbClr val="1A1A2E"/>
          </a:solidFill>
          <a:ln w="1905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227667" y="1508760"/>
            <a:ext cx="22402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900" b="1">
                <a:solidFill>
                  <a:srgbClr val="10B981"/>
                </a:solidFill>
                <a:latin typeface="Segoe UI"/>
              </a:defRPr>
            </a:pP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Extern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593427" y="2011680"/>
            <a:ext cx="1508760" cy="50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273387" y="2286000"/>
            <a:ext cx="2148840" cy="29392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A0A0B0"/>
                </a:solidFill>
                <a:latin typeface="Segoe UI"/>
              </a:defRPr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API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LoL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Esports (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neoficial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>
              <a:spcAft>
                <a:spcPts val="1000"/>
              </a:spcAft>
              <a:defRPr sz="1400">
                <a:solidFill>
                  <a:srgbClr val="A0A0B0"/>
                </a:solidFill>
                <a:latin typeface="Segoe UI"/>
              </a:defRPr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Gmail SMTP (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notificări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>
              <a:spcAft>
                <a:spcPts val="1000"/>
              </a:spcAft>
              <a:defRPr sz="1400">
                <a:solidFill>
                  <a:srgbClr val="A0A0B0"/>
                </a:solidFill>
                <a:latin typeface="Segoe UI"/>
              </a:defRPr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YouTube (VOD links)</a:t>
            </a:r>
          </a:p>
          <a:p>
            <a:pPr>
              <a:spcAft>
                <a:spcPts val="1000"/>
              </a:spcAft>
              <a:defRPr sz="1400">
                <a:solidFill>
                  <a:srgbClr val="A0A0B0"/>
                </a:solidFill>
                <a:latin typeface="Segoe UI"/>
              </a:defRPr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Team name aliases (70+)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762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Segoe UI"/>
              </a:defRPr>
            </a:pP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Arhitectura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o-RO" dirty="0">
                <a:latin typeface="Arial" panose="020B0604020202020204" pitchFamily="34" charset="0"/>
                <a:cs typeface="Arial" panose="020B0604020202020204" pitchFamily="34" charset="0"/>
              </a:rPr>
              <a:t>s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istemului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2743200" cy="508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1371599"/>
            <a:ext cx="3291840" cy="5374709"/>
          </a:xfrm>
          <a:prstGeom prst="roundRect">
            <a:avLst/>
          </a:prstGeom>
          <a:solidFill>
            <a:srgbClr val="1A1A2E"/>
          </a:solidFill>
          <a:ln w="19050">
            <a:solidFill>
              <a:srgbClr val="06B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32918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6B6D4"/>
                </a:solidFill>
                <a:latin typeface="Segoe UI"/>
              </a:defRPr>
            </a:pP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FRONTEND (React)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2926080" cy="47346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>
                <a:solidFill>
                  <a:srgbClr val="A0A0B0"/>
                </a:solidFill>
                <a:latin typeface="Segoe UI"/>
              </a:defRPr>
            </a:pP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12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pagini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(Home, Teams, Players, Tournaments, Matches, etc.)</a:t>
            </a:r>
          </a:p>
          <a:p>
            <a:pPr>
              <a:spcAft>
                <a:spcPts val="1000"/>
              </a:spcAft>
              <a:defRPr sz="1300">
                <a:solidFill>
                  <a:srgbClr val="A0A0B0"/>
                </a:solidFill>
                <a:latin typeface="Segoe UI"/>
              </a:defRPr>
            </a:pP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3 Context Providers (Auth, Region, Theme)</a:t>
            </a:r>
          </a:p>
          <a:p>
            <a:pPr>
              <a:spcAft>
                <a:spcPts val="1000"/>
              </a:spcAft>
              <a:defRPr sz="1300">
                <a:solidFill>
                  <a:srgbClr val="A0A0B0"/>
                </a:solidFill>
                <a:latin typeface="Segoe UI"/>
              </a:defRPr>
            </a:pP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C</a:t>
            </a:r>
            <a:r>
              <a:rPr lang="ro-RO" sz="2000" dirty="0">
                <a:latin typeface="Arial" panose="020B0604020202020204" pitchFamily="34" charset="0"/>
                <a:cs typeface="Arial" panose="020B0604020202020204" pitchFamily="34" charset="0"/>
              </a:rPr>
              <a:t>ă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utare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global</a:t>
            </a:r>
            <a:r>
              <a:rPr lang="ro-RO" sz="2000" dirty="0">
                <a:latin typeface="Arial" panose="020B0604020202020204" pitchFamily="34" charset="0"/>
                <a:cs typeface="Arial" panose="020B0604020202020204" pitchFamily="34" charset="0"/>
              </a:rPr>
              <a:t>ă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cu debounce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300ms</a:t>
            </a:r>
            <a:endParaRPr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Aft>
                <a:spcPts val="1000"/>
              </a:spcAft>
              <a:defRPr sz="1300">
                <a:solidFill>
                  <a:srgbClr val="A0A0B0"/>
                </a:solidFill>
                <a:latin typeface="Segoe UI"/>
              </a:defRPr>
            </a:pP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Filtre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, sort</a:t>
            </a:r>
            <a:r>
              <a:rPr lang="ro-RO" sz="2000" dirty="0">
                <a:latin typeface="Arial" panose="020B0604020202020204" pitchFamily="34" charset="0"/>
                <a:cs typeface="Arial" panose="020B0604020202020204" pitchFamily="34" charset="0"/>
              </a:rPr>
              <a:t>ă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ri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, tab-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uri</a:t>
            </a:r>
            <a:endParaRPr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Aft>
                <a:spcPts val="1000"/>
              </a:spcAft>
              <a:defRPr sz="1300">
                <a:solidFill>
                  <a:srgbClr val="A0A0B0"/>
                </a:solidFill>
                <a:latin typeface="Segoe UI"/>
              </a:defRPr>
            </a:pP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Interceptor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Axios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pentru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JWT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refresh automat</a:t>
            </a:r>
          </a:p>
          <a:p>
            <a:pPr>
              <a:spcAft>
                <a:spcPts val="1000"/>
              </a:spcAft>
              <a:defRPr sz="1300">
                <a:solidFill>
                  <a:srgbClr val="A0A0B0"/>
                </a:solidFill>
                <a:latin typeface="Segoe UI"/>
              </a:defRPr>
            </a:pP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Tema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dark/light cu Bootstrap 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1371600"/>
            <a:ext cx="3474720" cy="5374708"/>
          </a:xfrm>
          <a:prstGeom prst="roundRect">
            <a:avLst/>
          </a:prstGeom>
          <a:solidFill>
            <a:srgbClr val="1A1A2E"/>
          </a:solidFill>
          <a:ln w="1905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434840" y="1467505"/>
            <a:ext cx="34747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7C3AED"/>
                </a:solidFill>
                <a:latin typeface="Segoe UI"/>
              </a:defRPr>
            </a:pP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BACKEND (Django)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20" y="2011680"/>
            <a:ext cx="3108960" cy="44268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>
                <a:solidFill>
                  <a:srgbClr val="A0A0B0"/>
                </a:solidFill>
                <a:latin typeface="Segoe UI"/>
              </a:defRPr>
            </a:pP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7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modele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(Game, Team, Player, Tournament, Match, ...)</a:t>
            </a:r>
          </a:p>
          <a:p>
            <a:pPr>
              <a:spcAft>
                <a:spcPts val="1000"/>
              </a:spcAft>
              <a:defRPr sz="1300">
                <a:solidFill>
                  <a:srgbClr val="A0A0B0"/>
                </a:solidFill>
                <a:latin typeface="Segoe UI"/>
              </a:defRPr>
            </a:pP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API REST cu 5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ViewSets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+ custom actions</a:t>
            </a:r>
          </a:p>
          <a:p>
            <a:pPr>
              <a:spcAft>
                <a:spcPts val="1000"/>
              </a:spcAft>
              <a:defRPr sz="1300">
                <a:solidFill>
                  <a:srgbClr val="A0A0B0"/>
                </a:solidFill>
                <a:latin typeface="Segoe UI"/>
              </a:defRPr>
            </a:pP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9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serializere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DRF</a:t>
            </a:r>
            <a:endParaRPr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Aft>
                <a:spcPts val="1000"/>
              </a:spcAft>
              <a:defRPr sz="1300">
                <a:solidFill>
                  <a:srgbClr val="A0A0B0"/>
                </a:solidFill>
                <a:latin typeface="Segoe UI"/>
              </a:defRPr>
            </a:pP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JWT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auth (access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60m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, refresh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7d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>
              <a:spcAft>
                <a:spcPts val="1000"/>
              </a:spcAft>
              <a:defRPr sz="1300">
                <a:solidFill>
                  <a:srgbClr val="A0A0B0"/>
                </a:solidFill>
                <a:latin typeface="Segoe UI"/>
              </a:defRPr>
            </a:pP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WebSocket broadcast (Channels)</a:t>
            </a:r>
          </a:p>
          <a:p>
            <a:pPr>
              <a:spcAft>
                <a:spcPts val="1000"/>
              </a:spcAft>
              <a:defRPr sz="1300">
                <a:solidFill>
                  <a:srgbClr val="A0A0B0"/>
                </a:solidFill>
                <a:latin typeface="Segoe UI"/>
              </a:defRPr>
            </a:pP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3 task-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uri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periodice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(Django-Q)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21040" y="1371599"/>
            <a:ext cx="3200400" cy="5374707"/>
          </a:xfrm>
          <a:prstGeom prst="roundRect">
            <a:avLst/>
          </a:prstGeom>
          <a:solidFill>
            <a:srgbClr val="1A1A2E"/>
          </a:solidFill>
          <a:ln w="1905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321040" y="1463040"/>
            <a:ext cx="32004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0B981"/>
                </a:solidFill>
                <a:latin typeface="Segoe UI"/>
              </a:defRPr>
            </a:pPr>
            <a:r>
              <a:rPr sz="2400" dirty="0" err="1">
                <a:latin typeface="Arial" panose="020B0604020202020204" pitchFamily="34" charset="0"/>
                <a:cs typeface="Arial" panose="020B0604020202020204" pitchFamily="34" charset="0"/>
              </a:rPr>
              <a:t>SERVICII</a:t>
            </a: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400" dirty="0" err="1">
                <a:latin typeface="Arial" panose="020B0604020202020204" pitchFamily="34" charset="0"/>
                <a:cs typeface="Arial" panose="020B0604020202020204" pitchFamily="34" charset="0"/>
              </a:rPr>
              <a:t>EXTERNE</a:t>
            </a:r>
            <a:endParaRPr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503920" y="2011680"/>
            <a:ext cx="2834640" cy="29392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>
                <a:solidFill>
                  <a:srgbClr val="A0A0B0"/>
                </a:solidFill>
                <a:latin typeface="Segoe UI"/>
              </a:defRPr>
            </a:pP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PostgreSQL (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esportsdb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>
              <a:spcAft>
                <a:spcPts val="1000"/>
              </a:spcAft>
              <a:defRPr sz="1300">
                <a:solidFill>
                  <a:srgbClr val="A0A0B0"/>
                </a:solidFill>
                <a:latin typeface="Segoe UI"/>
              </a:defRPr>
            </a:pP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API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LoL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Esports (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getSchedule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getEventDetails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>
              <a:spcAft>
                <a:spcPts val="1000"/>
              </a:spcAft>
              <a:defRPr sz="1300">
                <a:solidFill>
                  <a:srgbClr val="A0A0B0"/>
                </a:solidFill>
                <a:latin typeface="Segoe UI"/>
              </a:defRPr>
            </a:pP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Gmail SMTP (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notific</a:t>
            </a:r>
            <a:r>
              <a:rPr lang="ro-RO" sz="2000" dirty="0">
                <a:latin typeface="Arial" panose="020B0604020202020204" pitchFamily="34" charset="0"/>
                <a:cs typeface="Arial" panose="020B0604020202020204" pitchFamily="34" charset="0"/>
              </a:rPr>
              <a:t>ă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ri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email)</a:t>
            </a:r>
          </a:p>
          <a:p>
            <a:pPr>
              <a:spcAft>
                <a:spcPts val="1000"/>
              </a:spcAft>
              <a:defRPr sz="1300">
                <a:solidFill>
                  <a:srgbClr val="A0A0B0"/>
                </a:solidFill>
                <a:latin typeface="Segoe UI"/>
              </a:defRPr>
            </a:pP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YouTube (VOD links)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77639" y="320040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A0A0B0"/>
                </a:solidFill>
                <a:latin typeface="Segoe UI"/>
              </a:defRPr>
            </a:pPr>
            <a:r>
              <a:t>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320040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A0A0B0"/>
                </a:solidFill>
                <a:latin typeface="Segoe UI"/>
              </a:defRPr>
            </a:pPr>
            <a:r>
              <a:t>↔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762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Segoe UI"/>
              </a:defRPr>
            </a:pP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Pipeline-ul Automat de Date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2743200" cy="508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303520" cy="4846320"/>
          </a:xfrm>
          <a:prstGeom prst="roundRect">
            <a:avLst/>
          </a:prstGeom>
          <a:solidFill>
            <a:srgbClr val="1A1A2E"/>
          </a:solidFill>
          <a:ln w="19050">
            <a:solidFill>
              <a:srgbClr val="06B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33718" y="1463040"/>
            <a:ext cx="501844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6B6D4"/>
                </a:solidFill>
                <a:latin typeface="Segoe UI"/>
              </a:defRPr>
            </a:pPr>
            <a:r>
              <a:rPr lang="ro-RO" dirty="0"/>
              <a:t>  </a:t>
            </a:r>
            <a:r>
              <a:rPr sz="2400" dirty="0" err="1">
                <a:latin typeface="Arial" panose="020B0604020202020204" pitchFamily="34" charset="0"/>
                <a:cs typeface="Arial" panose="020B0604020202020204" pitchFamily="34" charset="0"/>
              </a:rPr>
              <a:t>Faza</a:t>
            </a: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 1: Fetch </a:t>
            </a:r>
            <a:r>
              <a:rPr lang="ro-RO" sz="2400" dirty="0">
                <a:latin typeface="Arial" panose="020B0604020202020204" pitchFamily="34" charset="0"/>
                <a:cs typeface="Arial" panose="020B0604020202020204" pitchFamily="34" charset="0"/>
              </a:rPr>
              <a:t>p</a:t>
            </a:r>
            <a:r>
              <a:rPr sz="2400" dirty="0" err="1">
                <a:latin typeface="Arial" panose="020B0604020202020204" pitchFamily="34" charset="0"/>
                <a:cs typeface="Arial" panose="020B0604020202020204" pitchFamily="34" charset="0"/>
              </a:rPr>
              <a:t>rogra</a:t>
            </a:r>
            <a:r>
              <a:rPr lang="ro-RO" sz="2400" dirty="0">
                <a:latin typeface="Arial" panose="020B0604020202020204" pitchFamily="34" charset="0"/>
                <a:cs typeface="Arial" panose="020B0604020202020204" pitchFamily="34" charset="0"/>
              </a:rPr>
              <a:t>me ligi</a:t>
            </a: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 (la 15 min)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94037"/>
            <a:ext cx="4937760" cy="3811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A0A0B0"/>
                </a:solidFill>
                <a:latin typeface="Segoe UI"/>
              </a:defRPr>
            </a:pP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Itereaz</a:t>
            </a:r>
            <a:r>
              <a:rPr lang="ro-RO" sz="2000" dirty="0">
                <a:latin typeface="Arial" panose="020B0604020202020204" pitchFamily="34" charset="0"/>
                <a:cs typeface="Arial" panose="020B0604020202020204" pitchFamily="34" charset="0"/>
              </a:rPr>
              <a:t>ă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prin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o-RO" sz="2000" dirty="0"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ligi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LCK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LEC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, LPL, LCS</a:t>
            </a:r>
            <a:r>
              <a:rPr lang="ro-RO" sz="2000" dirty="0">
                <a:latin typeface="Arial" panose="020B0604020202020204" pitchFamily="34" charset="0"/>
                <a:cs typeface="Arial" panose="020B0604020202020204" pitchFamily="34" charset="0"/>
              </a:rPr>
              <a:t>, APAC</a:t>
            </a:r>
            <a:endParaRPr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Aft>
                <a:spcPts val="1000"/>
              </a:spcAft>
              <a:defRPr sz="1500">
                <a:solidFill>
                  <a:srgbClr val="A0A0B0"/>
                </a:solidFill>
                <a:latin typeface="Segoe UI"/>
              </a:defRPr>
            </a:pP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Apeleaz</a:t>
            </a:r>
            <a:r>
              <a:rPr lang="ro-RO" sz="2000" dirty="0">
                <a:latin typeface="Arial" panose="020B0604020202020204" pitchFamily="34" charset="0"/>
                <a:cs typeface="Arial" panose="020B0604020202020204" pitchFamily="34" charset="0"/>
              </a:rPr>
              <a:t>ă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getSchedule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pentru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fiecare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lig</a:t>
            </a:r>
            <a:r>
              <a:rPr lang="ro-RO" sz="2000" dirty="0">
                <a:latin typeface="Arial" panose="020B0604020202020204" pitchFamily="34" charset="0"/>
                <a:cs typeface="Arial" panose="020B0604020202020204" pitchFamily="34" charset="0"/>
              </a:rPr>
              <a:t>ă</a:t>
            </a:r>
            <a:endParaRPr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Aft>
                <a:spcPts val="1000"/>
              </a:spcAft>
              <a:defRPr sz="1500">
                <a:solidFill>
                  <a:srgbClr val="A0A0B0"/>
                </a:solidFill>
                <a:latin typeface="Segoe UI"/>
              </a:defRPr>
            </a:pP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DataMapper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extrage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echipe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scor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, stare,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dat</a:t>
            </a:r>
            <a:r>
              <a:rPr lang="ro-RO" sz="2000" dirty="0">
                <a:latin typeface="Arial" panose="020B0604020202020204" pitchFamily="34" charset="0"/>
                <a:cs typeface="Arial" panose="020B0604020202020204" pitchFamily="34" charset="0"/>
              </a:rPr>
              <a:t>ă</a:t>
            </a:r>
            <a:endParaRPr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Aft>
                <a:spcPts val="1000"/>
              </a:spcAft>
              <a:defRPr sz="1500">
                <a:solidFill>
                  <a:srgbClr val="A0A0B0"/>
                </a:solidFill>
                <a:latin typeface="Segoe UI"/>
              </a:defRPr>
            </a:pP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Upsert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cu</a:t>
            </a:r>
            <a:r>
              <a:rPr lang="ro-RO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Match.objects.update_or_create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external_id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=...)</a:t>
            </a:r>
          </a:p>
          <a:p>
            <a:pPr>
              <a:spcAft>
                <a:spcPts val="1000"/>
              </a:spcAft>
              <a:defRPr sz="1500">
                <a:solidFill>
                  <a:srgbClr val="A0A0B0"/>
                </a:solidFill>
                <a:latin typeface="Segoe UI"/>
              </a:defRPr>
            </a:pP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Paginare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automata (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pages.newer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token)</a:t>
            </a:r>
          </a:p>
          <a:p>
            <a:pPr>
              <a:spcAft>
                <a:spcPts val="1000"/>
              </a:spcAft>
              <a:defRPr sz="1500">
                <a:solidFill>
                  <a:srgbClr val="A0A0B0"/>
                </a:solidFill>
                <a:latin typeface="Segoe UI"/>
              </a:defRPr>
            </a:pP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Fallback VOD pe canal YouTube regional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5080" y="1371600"/>
            <a:ext cx="5120640" cy="2148840"/>
          </a:xfrm>
          <a:prstGeom prst="roundRect">
            <a:avLst/>
          </a:prstGeom>
          <a:solidFill>
            <a:srgbClr val="1A1A2E"/>
          </a:solidFill>
          <a:ln w="1905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537960" y="1463040"/>
            <a:ext cx="475488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7C3AED"/>
                </a:solidFill>
                <a:latin typeface="Segoe UI"/>
              </a:defRPr>
            </a:pPr>
            <a:r>
              <a:rPr sz="2400" dirty="0" err="1">
                <a:latin typeface="Arial" panose="020B0604020202020204" pitchFamily="34" charset="0"/>
                <a:cs typeface="Arial" panose="020B0604020202020204" pitchFamily="34" charset="0"/>
              </a:rPr>
              <a:t>Faza</a:t>
            </a: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 2:</a:t>
            </a:r>
            <a:r>
              <a:rPr lang="ro-RO" sz="2400" dirty="0">
                <a:latin typeface="Arial" panose="020B0604020202020204" pitchFamily="34" charset="0"/>
                <a:cs typeface="Arial" panose="020B0604020202020204" pitchFamily="34" charset="0"/>
              </a:rPr>
              <a:t> Actualizare</a:t>
            </a: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o-RO" sz="2400" dirty="0">
                <a:latin typeface="Arial" panose="020B0604020202020204" pitchFamily="34" charset="0"/>
                <a:cs typeface="Arial" panose="020B0604020202020204" pitchFamily="34" charset="0"/>
              </a:rPr>
              <a:t>r</a:t>
            </a:r>
            <a:r>
              <a:rPr sz="2400" dirty="0" err="1">
                <a:latin typeface="Arial" panose="020B0604020202020204" pitchFamily="34" charset="0"/>
                <a:cs typeface="Arial" panose="020B0604020202020204" pitchFamily="34" charset="0"/>
              </a:rPr>
              <a:t>ezultate</a:t>
            </a: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 (la 5 min)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22720" y="2271334"/>
            <a:ext cx="4754880" cy="12208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A0A0B0"/>
                </a:solidFill>
                <a:latin typeface="Segoe UI"/>
              </a:defRPr>
            </a:pP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getEventDetails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per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meci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detalii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per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joc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>
              <a:spcAft>
                <a:spcPts val="800"/>
              </a:spcAft>
              <a:defRPr sz="1500">
                <a:solidFill>
                  <a:srgbClr val="A0A0B0"/>
                </a:solidFill>
                <a:latin typeface="Segoe UI"/>
              </a:defRPr>
            </a:pP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Scor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final, VOD-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uri</a:t>
            </a:r>
            <a:endParaRPr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Aft>
                <a:spcPts val="800"/>
              </a:spcAft>
              <a:defRPr sz="1500">
                <a:solidFill>
                  <a:srgbClr val="A0A0B0"/>
                </a:solidFill>
                <a:latin typeface="Segoe UI"/>
              </a:defRPr>
            </a:pP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Echipe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cu side blue/red per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joc</a:t>
            </a:r>
            <a:endParaRPr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6355080" y="3749039"/>
            <a:ext cx="5120640" cy="2468880"/>
          </a:xfrm>
          <a:prstGeom prst="roundRect">
            <a:avLst/>
          </a:prstGeom>
          <a:solidFill>
            <a:srgbClr val="1A1A2E"/>
          </a:solidFill>
          <a:ln w="19050">
            <a:solidFill>
              <a:srgbClr val="EC48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37960" y="3840480"/>
            <a:ext cx="47548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C4899"/>
                </a:solidFill>
                <a:latin typeface="Segoe UI"/>
              </a:defRPr>
            </a:pPr>
            <a:r>
              <a:rPr lang="ro-RO" dirty="0"/>
              <a:t>	</a:t>
            </a:r>
            <a:r>
              <a:rPr sz="2400" dirty="0" err="1">
                <a:latin typeface="Arial" panose="020B0604020202020204" pitchFamily="34" charset="0"/>
                <a:cs typeface="Arial" panose="020B0604020202020204" pitchFamily="34" charset="0"/>
              </a:rPr>
              <a:t>Notific</a:t>
            </a:r>
            <a:r>
              <a:rPr lang="ro-RO" sz="2400" dirty="0">
                <a:latin typeface="Arial" panose="020B0604020202020204" pitchFamily="34" charset="0"/>
                <a:cs typeface="Arial" panose="020B0604020202020204" pitchFamily="34" charset="0"/>
              </a:rPr>
              <a:t>ă</a:t>
            </a:r>
            <a:r>
              <a:rPr sz="2400" dirty="0" err="1">
                <a:latin typeface="Arial" panose="020B0604020202020204" pitchFamily="34" charset="0"/>
                <a:cs typeface="Arial" panose="020B0604020202020204" pitchFamily="34" charset="0"/>
              </a:rPr>
              <a:t>ri</a:t>
            </a: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o-RO" sz="2400" dirty="0">
                <a:latin typeface="Arial" panose="020B0604020202020204" pitchFamily="34" charset="0"/>
                <a:cs typeface="Arial" panose="020B0604020202020204" pitchFamily="34" charset="0"/>
              </a:rPr>
              <a:t>e</a:t>
            </a: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mail (la 5 min)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4300475"/>
            <a:ext cx="4754880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A0A0B0"/>
                </a:solidFill>
                <a:latin typeface="Segoe UI"/>
              </a:defRPr>
            </a:pP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2h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inainte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: email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pentru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echipe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favorite</a:t>
            </a:r>
          </a:p>
          <a:p>
            <a:pPr>
              <a:spcAft>
                <a:spcPts val="800"/>
              </a:spcAft>
              <a:defRPr sz="1500">
                <a:solidFill>
                  <a:srgbClr val="A0A0B0"/>
                </a:solidFill>
                <a:latin typeface="Segoe UI"/>
              </a:defRPr>
            </a:pP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10min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inainte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: email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pentru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meciuri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favorite</a:t>
            </a:r>
          </a:p>
          <a:p>
            <a:pPr>
              <a:spcAft>
                <a:spcPts val="800"/>
              </a:spcAft>
              <a:defRPr sz="1500">
                <a:solidFill>
                  <a:srgbClr val="A0A0B0"/>
                </a:solidFill>
                <a:latin typeface="Segoe UI"/>
              </a:defRPr>
            </a:pP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NotificationLog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previne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duplicatele</a:t>
            </a:r>
            <a:endParaRPr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Aft>
                <a:spcPts val="800"/>
              </a:spcAft>
              <a:defRPr sz="1500">
                <a:solidFill>
                  <a:srgbClr val="A0A0B0"/>
                </a:solidFill>
                <a:latin typeface="Segoe UI"/>
              </a:defRPr>
            </a:pP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Gmail SMTP cu template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personalizat</a:t>
            </a:r>
            <a:endParaRPr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762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Segoe UI"/>
              </a:defRPr>
            </a:pP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Interfa</a:t>
            </a:r>
            <a:r>
              <a:rPr lang="ro-RO" dirty="0">
                <a:latin typeface="Arial" panose="020B0604020202020204" pitchFamily="34" charset="0"/>
                <a:cs typeface="Arial" panose="020B0604020202020204" pitchFamily="34" charset="0"/>
              </a:rPr>
              <a:t>ț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a </a:t>
            </a:r>
            <a:r>
              <a:rPr lang="ro-RO" dirty="0">
                <a:latin typeface="Arial" panose="020B0604020202020204" pitchFamily="34" charset="0"/>
                <a:cs typeface="Arial" panose="020B0604020202020204" pitchFamily="34" charset="0"/>
              </a:rPr>
              <a:t>u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tilizator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(Frontend)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2743200" cy="508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46607" y="1371600"/>
            <a:ext cx="3383280" cy="5307106"/>
          </a:xfrm>
          <a:prstGeom prst="roundRect">
            <a:avLst/>
          </a:prstGeom>
          <a:solidFill>
            <a:srgbClr val="1A1A2E"/>
          </a:solidFill>
          <a:ln w="19050">
            <a:solidFill>
              <a:srgbClr val="06B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29487" y="1508760"/>
            <a:ext cx="30175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900" b="1">
                <a:solidFill>
                  <a:srgbClr val="06B6D4"/>
                </a:solidFill>
                <a:latin typeface="Segoe UI"/>
              </a:defRPr>
            </a:pPr>
            <a:r>
              <a:rPr sz="2400" dirty="0" err="1">
                <a:latin typeface="Arial" panose="020B0604020202020204" pitchFamily="34" charset="0"/>
                <a:cs typeface="Arial" panose="020B0604020202020204" pitchFamily="34" charset="0"/>
              </a:rPr>
              <a:t>Pagini</a:t>
            </a: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400" dirty="0" err="1">
                <a:latin typeface="Arial" panose="020B0604020202020204" pitchFamily="34" charset="0"/>
                <a:cs typeface="Arial" panose="020B0604020202020204" pitchFamily="34" charset="0"/>
              </a:rPr>
              <a:t>principale</a:t>
            </a:r>
            <a:endParaRPr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1478127" y="2011680"/>
            <a:ext cx="1920240" cy="508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75207" y="2286000"/>
            <a:ext cx="2926080" cy="42986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A0A0B0"/>
                </a:solidFill>
                <a:latin typeface="Segoe UI"/>
              </a:defRPr>
            </a:pP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Home: c</a:t>
            </a:r>
            <a:r>
              <a:rPr lang="ro-RO" sz="2000" dirty="0">
                <a:latin typeface="Arial" panose="020B0604020202020204" pitchFamily="34" charset="0"/>
                <a:cs typeface="Arial" panose="020B0604020202020204" pitchFamily="34" charset="0"/>
              </a:rPr>
              <a:t>ă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utare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global</a:t>
            </a:r>
            <a:r>
              <a:rPr lang="ro-RO" sz="2000" dirty="0">
                <a:latin typeface="Arial" panose="020B0604020202020204" pitchFamily="34" charset="0"/>
                <a:cs typeface="Arial" panose="020B0604020202020204" pitchFamily="34" charset="0"/>
              </a:rPr>
              <a:t>ă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+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meciuri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viitoare</a:t>
            </a:r>
            <a:endParaRPr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Aft>
                <a:spcPts val="1000"/>
              </a:spcAft>
              <a:defRPr sz="1400">
                <a:solidFill>
                  <a:srgbClr val="A0A0B0"/>
                </a:solidFill>
                <a:latin typeface="Segoe UI"/>
              </a:defRPr>
            </a:pP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Teams: grid cu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filtre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o-RO" sz="2000" dirty="0">
                <a:latin typeface="Arial" panose="020B0604020202020204" pitchFamily="34" charset="0"/>
                <a:cs typeface="Arial" panose="020B0604020202020204" pitchFamily="34" charset="0"/>
              </a:rPr>
              <a:t>ț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ar</a:t>
            </a:r>
            <a:r>
              <a:rPr lang="ro-RO" sz="2000" dirty="0">
                <a:latin typeface="Arial" panose="020B0604020202020204" pitchFamily="34" charset="0"/>
                <a:cs typeface="Arial" panose="020B0604020202020204" pitchFamily="34" charset="0"/>
              </a:rPr>
              <a:t>ă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regiune</a:t>
            </a:r>
            <a:endParaRPr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Aft>
                <a:spcPts val="1000"/>
              </a:spcAft>
              <a:defRPr sz="1400">
                <a:solidFill>
                  <a:srgbClr val="A0A0B0"/>
                </a:solidFill>
                <a:latin typeface="Segoe UI"/>
              </a:defRPr>
            </a:pP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Players: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filtre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echip</a:t>
            </a:r>
            <a:r>
              <a:rPr lang="ro-RO" sz="2000" dirty="0">
                <a:latin typeface="Arial" panose="020B0604020202020204" pitchFamily="34" charset="0"/>
                <a:cs typeface="Arial" panose="020B0604020202020204" pitchFamily="34" charset="0"/>
              </a:rPr>
              <a:t>ă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ro-RO" sz="2000" dirty="0">
                <a:latin typeface="Arial" panose="020B0604020202020204" pitchFamily="34" charset="0"/>
                <a:cs typeface="Arial" panose="020B0604020202020204" pitchFamily="34" charset="0"/>
              </a:rPr>
              <a:t>ț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ar</a:t>
            </a:r>
            <a:r>
              <a:rPr lang="ro-RO" sz="2000" dirty="0">
                <a:latin typeface="Arial" panose="020B0604020202020204" pitchFamily="34" charset="0"/>
                <a:cs typeface="Arial" panose="020B0604020202020204" pitchFamily="34" charset="0"/>
              </a:rPr>
              <a:t>ă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rol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+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statistici</a:t>
            </a:r>
            <a:endParaRPr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Aft>
                <a:spcPts val="1000"/>
              </a:spcAft>
              <a:defRPr sz="1400">
                <a:solidFill>
                  <a:srgbClr val="A0A0B0"/>
                </a:solidFill>
                <a:latin typeface="Segoe UI"/>
              </a:defRPr>
            </a:pP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Tournaments: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clasamente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+ bracket playoff</a:t>
            </a:r>
          </a:p>
          <a:p>
            <a:pPr>
              <a:spcAft>
                <a:spcPts val="1000"/>
              </a:spcAft>
              <a:defRPr sz="1400">
                <a:solidFill>
                  <a:srgbClr val="A0A0B0"/>
                </a:solidFill>
                <a:latin typeface="Segoe UI"/>
              </a:defRPr>
            </a:pP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Matches: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detalii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expandabile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per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joc</a:t>
            </a:r>
            <a:endParaRPr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404207" y="1371600"/>
            <a:ext cx="3383280" cy="5307106"/>
          </a:xfrm>
          <a:prstGeom prst="roundRect">
            <a:avLst/>
          </a:prstGeom>
          <a:solidFill>
            <a:srgbClr val="1A1A2E"/>
          </a:solidFill>
          <a:ln w="1905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87087" y="1508760"/>
            <a:ext cx="30175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900" b="1">
                <a:solidFill>
                  <a:srgbClr val="7C3AED"/>
                </a:solidFill>
                <a:latin typeface="Segoe UI"/>
              </a:defRPr>
            </a:pP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Autentificare</a:t>
            </a:r>
            <a:endParaRPr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135727" y="2011680"/>
            <a:ext cx="1920240" cy="508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32807" y="2286000"/>
            <a:ext cx="2926080" cy="3683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A0A0B0"/>
                </a:solidFill>
                <a:latin typeface="Segoe UI"/>
              </a:defRPr>
            </a:pP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Register / Login cu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JWT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tokens</a:t>
            </a:r>
          </a:p>
          <a:p>
            <a:pPr>
              <a:spcAft>
                <a:spcPts val="1000"/>
              </a:spcAft>
              <a:defRPr sz="1400">
                <a:solidFill>
                  <a:srgbClr val="A0A0B0"/>
                </a:solidFill>
                <a:latin typeface="Segoe UI"/>
              </a:defRPr>
            </a:pP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Refresh automat via interceptor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Axios</a:t>
            </a:r>
            <a:endParaRPr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Aft>
                <a:spcPts val="1000"/>
              </a:spcAft>
              <a:defRPr sz="1400">
                <a:solidFill>
                  <a:srgbClr val="A0A0B0"/>
                </a:solidFill>
                <a:latin typeface="Segoe UI"/>
              </a:defRPr>
            </a:pP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Profil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cu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gestionare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favorite</a:t>
            </a:r>
          </a:p>
          <a:p>
            <a:pPr>
              <a:spcAft>
                <a:spcPts val="1000"/>
              </a:spcAft>
              <a:defRPr sz="1400">
                <a:solidFill>
                  <a:srgbClr val="A0A0B0"/>
                </a:solidFill>
                <a:latin typeface="Segoe UI"/>
              </a:defRPr>
            </a:pP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Delete account (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confirmare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2 pa</a:t>
            </a:r>
            <a:r>
              <a:rPr lang="ro-RO" sz="2000" dirty="0">
                <a:latin typeface="Arial" panose="020B0604020202020204" pitchFamily="34" charset="0"/>
                <a:cs typeface="Arial" panose="020B0604020202020204" pitchFamily="34" charset="0"/>
              </a:rPr>
              <a:t>ș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>
              <a:spcAft>
                <a:spcPts val="1000"/>
              </a:spcAft>
              <a:defRPr sz="1400">
                <a:solidFill>
                  <a:srgbClr val="A0A0B0"/>
                </a:solidFill>
                <a:latin typeface="Segoe UI"/>
              </a:defRPr>
            </a:pP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Protected routes (redirect /login)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61807" y="1371599"/>
            <a:ext cx="3383280" cy="5307105"/>
          </a:xfrm>
          <a:prstGeom prst="roundRect">
            <a:avLst/>
          </a:prstGeom>
          <a:solidFill>
            <a:srgbClr val="1A1A2E"/>
          </a:solidFill>
          <a:ln w="19050">
            <a:solidFill>
              <a:srgbClr val="EC48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44687" y="1508760"/>
            <a:ext cx="30175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900" b="1">
                <a:solidFill>
                  <a:srgbClr val="EC4899"/>
                </a:solidFill>
                <a:latin typeface="Segoe UI"/>
              </a:defRPr>
            </a:pPr>
            <a:r>
              <a:rPr sz="2400" dirty="0" err="1">
                <a:latin typeface="Arial" panose="020B0604020202020204" pitchFamily="34" charset="0"/>
                <a:cs typeface="Arial" panose="020B0604020202020204" pitchFamily="34" charset="0"/>
              </a:rPr>
              <a:t>UX</a:t>
            </a: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 &amp; Design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93327" y="2011680"/>
            <a:ext cx="1920240" cy="50800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90407" y="2286000"/>
            <a:ext cx="2926080" cy="39908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A0A0B0"/>
                </a:solidFill>
                <a:latin typeface="Segoe UI"/>
              </a:defRPr>
            </a:pP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Responsive: desktop, tablet</a:t>
            </a:r>
            <a:r>
              <a:rPr lang="ro-RO" sz="2000" dirty="0">
                <a:latin typeface="Arial" panose="020B0604020202020204" pitchFamily="34" charset="0"/>
                <a:cs typeface="Arial" panose="020B0604020202020204" pitchFamily="34" charset="0"/>
              </a:rPr>
              <a:t>ă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,</a:t>
            </a:r>
            <a:r>
              <a:rPr lang="ro-RO" sz="2000" dirty="0">
                <a:latin typeface="Arial" panose="020B0604020202020204" pitchFamily="34" charset="0"/>
                <a:cs typeface="Arial" panose="020B0604020202020204" pitchFamily="34" charset="0"/>
              </a:rPr>
              <a:t> smartphone</a:t>
            </a:r>
            <a:endParaRPr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Aft>
                <a:spcPts val="1000"/>
              </a:spcAft>
              <a:defRPr sz="1400">
                <a:solidFill>
                  <a:srgbClr val="A0A0B0"/>
                </a:solidFill>
                <a:latin typeface="Segoe UI"/>
              </a:defRPr>
            </a:pP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Tema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dark (implicit) / light toggle</a:t>
            </a:r>
          </a:p>
          <a:p>
            <a:pPr>
              <a:spcAft>
                <a:spcPts val="1000"/>
              </a:spcAft>
              <a:defRPr sz="1400">
                <a:solidFill>
                  <a:srgbClr val="A0A0B0"/>
                </a:solidFill>
                <a:latin typeface="Segoe UI"/>
              </a:defRPr>
            </a:pP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Naviga</a:t>
            </a:r>
            <a:r>
              <a:rPr lang="ro-RO" sz="2000" dirty="0">
                <a:latin typeface="Arial" panose="020B0604020202020204" pitchFamily="34" charset="0"/>
                <a:cs typeface="Arial" panose="020B0604020202020204" pitchFamily="34" charset="0"/>
              </a:rPr>
              <a:t>ț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ie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cu hamburger menu pe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mobil</a:t>
            </a:r>
            <a:endParaRPr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Aft>
                <a:spcPts val="1000"/>
              </a:spcAft>
              <a:defRPr sz="1400">
                <a:solidFill>
                  <a:srgbClr val="A0A0B0"/>
                </a:solidFill>
                <a:latin typeface="Segoe UI"/>
              </a:defRPr>
            </a:pP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Loading spinners, empty states, error alerts</a:t>
            </a:r>
          </a:p>
          <a:p>
            <a:pPr>
              <a:spcAft>
                <a:spcPts val="1000"/>
              </a:spcAft>
              <a:defRPr sz="1400">
                <a:solidFill>
                  <a:srgbClr val="A0A0B0"/>
                </a:solidFill>
                <a:latin typeface="Segoe UI"/>
              </a:defRPr>
            </a:pP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Anima</a:t>
            </a:r>
            <a:r>
              <a:rPr lang="ro-RO" sz="2000" dirty="0">
                <a:latin typeface="Arial" panose="020B0604020202020204" pitchFamily="34" charset="0"/>
                <a:cs typeface="Arial" panose="020B0604020202020204" pitchFamily="34" charset="0"/>
              </a:rPr>
              <a:t>ț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ii CSS (fade-in, hover glow)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762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Segoe UI"/>
              </a:defRPr>
            </a:pP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Concluzii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2743200" cy="508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1371600" y="1371600"/>
            <a:ext cx="9144000" cy="4009608"/>
          </a:xfrm>
          <a:prstGeom prst="roundRect">
            <a:avLst/>
          </a:prstGeom>
          <a:solidFill>
            <a:srgbClr val="1A1A2E"/>
          </a:solidFill>
          <a:ln w="19050">
            <a:solidFill>
              <a:srgbClr val="06B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554480" y="1463040"/>
            <a:ext cx="87782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100" b="1">
                <a:solidFill>
                  <a:srgbClr val="06B6D4"/>
                </a:solidFill>
                <a:latin typeface="Segoe UI"/>
              </a:defRPr>
            </a:pPr>
            <a:r>
              <a:rPr sz="2400" dirty="0" err="1">
                <a:latin typeface="Arial" panose="020B0604020202020204" pitchFamily="34" charset="0"/>
                <a:cs typeface="Arial" panose="020B0604020202020204" pitchFamily="34" charset="0"/>
              </a:rPr>
              <a:t>Reali</a:t>
            </a:r>
            <a:r>
              <a:rPr lang="ro-RO" sz="2400" dirty="0">
                <a:latin typeface="Arial" panose="020B0604020202020204" pitchFamily="34" charset="0"/>
                <a:cs typeface="Arial" panose="020B0604020202020204" pitchFamily="34" charset="0"/>
              </a:rPr>
              <a:t>ză</a:t>
            </a:r>
            <a:r>
              <a:rPr sz="2400" dirty="0" err="1">
                <a:latin typeface="Arial" panose="020B0604020202020204" pitchFamily="34" charset="0"/>
                <a:cs typeface="Arial" panose="020B0604020202020204" pitchFamily="34" charset="0"/>
              </a:rPr>
              <a:t>ri</a:t>
            </a: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o-RO" sz="2400" dirty="0">
                <a:latin typeface="Arial" panose="020B0604020202020204" pitchFamily="34" charset="0"/>
                <a:cs typeface="Arial" panose="020B0604020202020204" pitchFamily="34" charset="0"/>
              </a:rPr>
              <a:t>ș</a:t>
            </a:r>
            <a:r>
              <a:rPr sz="2400" dirty="0" err="1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o-RO" sz="2400" dirty="0">
                <a:latin typeface="Arial" panose="020B0604020202020204" pitchFamily="34" charset="0"/>
                <a:cs typeface="Arial" panose="020B0604020202020204" pitchFamily="34" charset="0"/>
              </a:rPr>
              <a:t>c</a:t>
            </a:r>
            <a:r>
              <a:rPr sz="2400" dirty="0" err="1">
                <a:latin typeface="Arial" panose="020B0604020202020204" pitchFamily="34" charset="0"/>
                <a:cs typeface="Arial" panose="020B0604020202020204" pitchFamily="34" charset="0"/>
              </a:rPr>
              <a:t>unostin</a:t>
            </a:r>
            <a:r>
              <a:rPr lang="ro-RO" sz="2400" dirty="0">
                <a:latin typeface="Arial" panose="020B0604020202020204" pitchFamily="34" charset="0"/>
                <a:cs typeface="Arial" panose="020B0604020202020204" pitchFamily="34" charset="0"/>
              </a:rPr>
              <a:t>ț</a:t>
            </a: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e </a:t>
            </a:r>
            <a:r>
              <a:rPr lang="ro-RO" sz="2400" dirty="0">
                <a:latin typeface="Arial" panose="020B0604020202020204" pitchFamily="34" charset="0"/>
                <a:cs typeface="Arial" panose="020B0604020202020204" pitchFamily="34" charset="0"/>
              </a:rPr>
              <a:t>d</a:t>
            </a:r>
            <a:r>
              <a:rPr sz="2400" dirty="0" err="1">
                <a:latin typeface="Arial" panose="020B0604020202020204" pitchFamily="34" charset="0"/>
                <a:cs typeface="Arial" panose="020B0604020202020204" pitchFamily="34" charset="0"/>
              </a:rPr>
              <a:t>ob</a:t>
            </a:r>
            <a:r>
              <a:rPr lang="ro-RO" sz="2400" dirty="0">
                <a:latin typeface="Arial" panose="020B0604020202020204" pitchFamily="34" charset="0"/>
                <a:cs typeface="Arial" panose="020B0604020202020204" pitchFamily="34" charset="0"/>
              </a:rPr>
              <a:t>â</a:t>
            </a:r>
            <a:r>
              <a:rPr sz="2400" dirty="0" err="1">
                <a:latin typeface="Arial" panose="020B0604020202020204" pitchFamily="34" charset="0"/>
                <a:cs typeface="Arial" panose="020B0604020202020204" pitchFamily="34" charset="0"/>
              </a:rPr>
              <a:t>ndite</a:t>
            </a:r>
            <a:endParaRPr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114800" y="2011680"/>
            <a:ext cx="3657600" cy="508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163927" y="2306320"/>
            <a:ext cx="7863840" cy="27084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>
                <a:solidFill>
                  <a:srgbClr val="A0A0B0"/>
                </a:solidFill>
                <a:latin typeface="Segoe UI"/>
              </a:defRPr>
            </a:pP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Aplica</a:t>
            </a:r>
            <a:r>
              <a:rPr lang="ro-RO" sz="2000" dirty="0">
                <a:latin typeface="Arial" panose="020B0604020202020204" pitchFamily="34" charset="0"/>
                <a:cs typeface="Arial" panose="020B0604020202020204" pitchFamily="34" charset="0"/>
              </a:rPr>
              <a:t>ț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ie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full-stack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complet</a:t>
            </a:r>
            <a:r>
              <a:rPr lang="ro-RO" sz="2000" dirty="0">
                <a:latin typeface="Arial" panose="020B0604020202020204" pitchFamily="34" charset="0"/>
                <a:cs typeface="Arial" panose="020B0604020202020204" pitchFamily="34" charset="0"/>
              </a:rPr>
              <a:t>ă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(Django + React)</a:t>
            </a:r>
          </a:p>
          <a:p>
            <a:pPr>
              <a:spcAft>
                <a:spcPts val="1200"/>
              </a:spcAft>
              <a:defRPr sz="1600">
                <a:solidFill>
                  <a:srgbClr val="A0A0B0"/>
                </a:solidFill>
                <a:latin typeface="Segoe UI"/>
              </a:defRPr>
            </a:pP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API REST cu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autentificare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JWT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securizat</a:t>
            </a:r>
            <a:r>
              <a:rPr lang="ro-RO" sz="2000" dirty="0">
                <a:latin typeface="Arial" panose="020B0604020202020204" pitchFamily="34" charset="0"/>
                <a:cs typeface="Arial" panose="020B0604020202020204" pitchFamily="34" charset="0"/>
              </a:rPr>
              <a:t>ă</a:t>
            </a:r>
            <a:endParaRPr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Aft>
                <a:spcPts val="1200"/>
              </a:spcAft>
              <a:defRPr sz="1600">
                <a:solidFill>
                  <a:srgbClr val="A0A0B0"/>
                </a:solidFill>
                <a:latin typeface="Segoe UI"/>
              </a:defRPr>
            </a:pP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Pipeline automat cu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integrare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API extern</a:t>
            </a:r>
          </a:p>
          <a:p>
            <a:pPr>
              <a:spcAft>
                <a:spcPts val="1200"/>
              </a:spcAft>
              <a:defRPr sz="1600">
                <a:solidFill>
                  <a:srgbClr val="A0A0B0"/>
                </a:solidFill>
                <a:latin typeface="Segoe UI"/>
              </a:defRPr>
            </a:pP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WebSocket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pentru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actualiz</a:t>
            </a:r>
            <a:r>
              <a:rPr lang="ro-RO" sz="2000" dirty="0">
                <a:latin typeface="Arial" panose="020B0604020202020204" pitchFamily="34" charset="0"/>
                <a:cs typeface="Arial" panose="020B0604020202020204" pitchFamily="34" charset="0"/>
              </a:rPr>
              <a:t>ă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ri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o-RO" sz="2000" dirty="0">
                <a:latin typeface="Arial" panose="020B0604020202020204" pitchFamily="34" charset="0"/>
                <a:cs typeface="Arial" panose="020B0604020202020204" pitchFamily="34" charset="0"/>
              </a:rPr>
              <a:t>î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n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timp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real</a:t>
            </a:r>
          </a:p>
          <a:p>
            <a:pPr>
              <a:spcAft>
                <a:spcPts val="1200"/>
              </a:spcAft>
              <a:defRPr sz="1600">
                <a:solidFill>
                  <a:srgbClr val="A0A0B0"/>
                </a:solidFill>
                <a:latin typeface="Segoe UI"/>
              </a:defRPr>
            </a:pP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Sistem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notific</a:t>
            </a:r>
            <a:r>
              <a:rPr lang="ro-RO" sz="2000" dirty="0">
                <a:latin typeface="Arial" panose="020B0604020202020204" pitchFamily="34" charset="0"/>
                <a:cs typeface="Arial" panose="020B0604020202020204" pitchFamily="34" charset="0"/>
              </a:rPr>
              <a:t>ă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ri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email cu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prevenire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duplicare</a:t>
            </a:r>
            <a:endParaRPr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Aft>
                <a:spcPts val="1200"/>
              </a:spcAft>
              <a:defRPr sz="1600">
                <a:solidFill>
                  <a:srgbClr val="A0A0B0"/>
                </a:solidFill>
                <a:latin typeface="Segoe UI"/>
              </a:defRPr>
            </a:pP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Interfa</a:t>
            </a:r>
            <a:r>
              <a:rPr lang="ro-RO" sz="2000" dirty="0">
                <a:latin typeface="Arial" panose="020B0604020202020204" pitchFamily="34" charset="0"/>
                <a:cs typeface="Arial" panose="020B0604020202020204" pitchFamily="34" charset="0"/>
              </a:rPr>
              <a:t>ț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a responsive cu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tem</a:t>
            </a:r>
            <a:r>
              <a:rPr lang="ro-RO" sz="2000" dirty="0">
                <a:latin typeface="Arial" panose="020B0604020202020204" pitchFamily="34" charset="0"/>
                <a:cs typeface="Arial" panose="020B0604020202020204" pitchFamily="34" charset="0"/>
              </a:rPr>
              <a:t>ă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dark/light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5897880"/>
            <a:ext cx="9144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7C3AED"/>
                </a:solidFill>
                <a:latin typeface="Segoe UI"/>
              </a:defRPr>
            </a:pPr>
            <a:r>
              <a:rPr sz="3200" dirty="0">
                <a:latin typeface="Arial" panose="020B0604020202020204" pitchFamily="34" charset="0"/>
                <a:cs typeface="Arial" panose="020B0604020202020204" pitchFamily="34" charset="0"/>
              </a:rPr>
              <a:t>V</a:t>
            </a:r>
            <a:r>
              <a:rPr lang="ro-RO" sz="3200" dirty="0">
                <a:latin typeface="Arial" panose="020B0604020202020204" pitchFamily="34" charset="0"/>
                <a:cs typeface="Arial" panose="020B0604020202020204" pitchFamily="34" charset="0"/>
              </a:rPr>
              <a:t>ă</a:t>
            </a:r>
            <a:r>
              <a:rPr sz="3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200" dirty="0" err="1">
                <a:latin typeface="Arial" panose="020B0604020202020204" pitchFamily="34" charset="0"/>
                <a:cs typeface="Arial" panose="020B0604020202020204" pitchFamily="34" charset="0"/>
              </a:rPr>
              <a:t>mul</a:t>
            </a:r>
            <a:r>
              <a:rPr lang="ro-RO" sz="3200" dirty="0">
                <a:latin typeface="Arial" panose="020B0604020202020204" pitchFamily="34" charset="0"/>
                <a:cs typeface="Arial" panose="020B0604020202020204" pitchFamily="34" charset="0"/>
              </a:rPr>
              <a:t>ț</a:t>
            </a:r>
            <a:r>
              <a:rPr sz="3200" dirty="0" err="1">
                <a:latin typeface="Arial" panose="020B0604020202020204" pitchFamily="34" charset="0"/>
                <a:cs typeface="Arial" panose="020B0604020202020204" pitchFamily="34" charset="0"/>
              </a:rPr>
              <a:t>umesc</a:t>
            </a:r>
            <a:r>
              <a:rPr sz="3200" dirty="0">
                <a:latin typeface="Arial" panose="020B0604020202020204" pitchFamily="34" charset="0"/>
                <a:cs typeface="Arial" panose="020B0604020202020204" pitchFamily="34" charset="0"/>
              </a:rPr>
              <a:t>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</TotalTime>
  <Words>813</Words>
  <Application>Microsoft Office PowerPoint</Application>
  <PresentationFormat>Widescreen</PresentationFormat>
  <Paragraphs>125</Paragraphs>
  <Slides>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Mario</cp:lastModifiedBy>
  <cp:revision>10</cp:revision>
  <dcterms:created xsi:type="dcterms:W3CDTF">2013-01-27T09:14:16Z</dcterms:created>
  <dcterms:modified xsi:type="dcterms:W3CDTF">2026-02-16T19:46:40Z</dcterms:modified>
  <cp:category/>
</cp:coreProperties>
</file>